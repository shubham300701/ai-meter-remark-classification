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8"/>
  </p:notesMasterIdLst>
  <p:sldIdLst>
    <p:sldId id="256" r:id="rId4"/>
    <p:sldId id="257" r:id="rId5"/>
    <p:sldId id="279" r:id="rId6"/>
    <p:sldId id="280" r:id="rId7"/>
    <p:sldId id="289" r:id="rId9"/>
    <p:sldId id="290" r:id="rId10"/>
    <p:sldId id="292" r:id="rId11"/>
    <p:sldId id="29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bham Saxena" initials="authorId_61483700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b="1">
                <a:latin typeface="Sitka Display" panose="02000505000000020004" charset="0"/>
                <a:cs typeface="Sitka Display" panose="02000505000000020004" charset="0"/>
                <a:sym typeface="+mn-ea"/>
              </a:rPr>
              <a:t>Key Advantage of TF-IDF Vectorization: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Assigns higher weights to important domain-specific words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Produces high-dimensional sparse feature vectors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Reduces influence of common but less meaningful terms</a:t>
            </a:r>
            <a:b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</a:b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b="1">
                <a:latin typeface="Sitka Display" panose="02000505000000020004" charset="0"/>
                <a:cs typeface="Sitka Display" panose="02000505000000020004" charset="0"/>
                <a:sym typeface="+mn-ea"/>
              </a:rPr>
              <a:t>Key Advantage of TF-IDF Vectorization: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Assigns higher weights to important domain-specific words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Produces high-dimensional sparse feature vectors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Reduces influence of common but less meaningful terms</a:t>
            </a:r>
            <a:b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</a:b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b="1">
                <a:latin typeface="Sitka Display" panose="02000505000000020004" charset="0"/>
                <a:cs typeface="Sitka Display" panose="02000505000000020004" charset="0"/>
                <a:sym typeface="+mn-ea"/>
              </a:rPr>
              <a:t>Key Advantage of TF-IDF Vectorization: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Assigns higher weights to important domain-specific words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Produces high-dimensional sparse feature vectors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Reduces influence of common but less meaningful terms</a:t>
            </a:r>
            <a:b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</a:b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b="1">
                <a:latin typeface="Sitka Display" panose="02000505000000020004" charset="0"/>
                <a:cs typeface="Sitka Display" panose="02000505000000020004" charset="0"/>
                <a:sym typeface="+mn-ea"/>
              </a:rPr>
              <a:t>Key Advantage of TF-IDF Vectorization: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Assigns higher weights to important domain-specific words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Produces high-dimensional sparse feature vectors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Reduces influence of common but less meaningful terms</a:t>
            </a:r>
            <a:b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</a:b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b="1">
                <a:latin typeface="Sitka Display" panose="02000505000000020004" charset="0"/>
                <a:cs typeface="Sitka Display" panose="02000505000000020004" charset="0"/>
                <a:sym typeface="+mn-ea"/>
              </a:rPr>
              <a:t>Key Advantage of TF-IDF Vectorization: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Assigns higher weights to important domain-specific words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Produces high-dimensional sparse feature vectors</a:t>
            </a:r>
            <a:endParaRPr lang="en-US" altLang="en-US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</a:pPr>
            <a: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  <a:t>- Reduces influence of common but less meaningful terms</a:t>
            </a:r>
            <a:br>
              <a:rPr lang="en-US" altLang="en-US">
                <a:latin typeface="Sitka Display" panose="02000505000000020004" charset="0"/>
                <a:cs typeface="Sitka Display" panose="02000505000000020004" charset="0"/>
                <a:sym typeface="+mn-ea"/>
              </a:rPr>
            </a:b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C17A-1D3B-4747-8E76-739B3EB9995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</a:fld>
            <a:r>
              <a:rPr lang="en-US" dirty="0"/>
              <a:t>/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20" Type="http://schemas.openxmlformats.org/officeDocument/2006/relationships/tags" Target="../tags/tag66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</a:fld>
            <a:r>
              <a:rPr lang="en-US" dirty="0"/>
              <a:t>/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3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4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1.jpeg"/><Relationship Id="rId16" Type="http://schemas.openxmlformats.org/officeDocument/2006/relationships/slideLayout" Target="../slideLayouts/slideLayout14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4.xml"/><Relationship Id="rId6" Type="http://schemas.openxmlformats.org/officeDocument/2006/relationships/tags" Target="../tags/tag110.xml"/><Relationship Id="rId5" Type="http://schemas.openxmlformats.org/officeDocument/2006/relationships/hyperlink" Target="https://github.com/shubham300701/AI-Meter-Remark-Classification.git" TargetMode="Externa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4.xml"/><Relationship Id="rId5" Type="http://schemas.openxmlformats.org/officeDocument/2006/relationships/hyperlink" Target="https://github.com/shubham300701/AI-Meter-Remark-Classification.git" TargetMode="External"/><Relationship Id="rId4" Type="http://schemas.openxmlformats.org/officeDocument/2006/relationships/tags" Target="../tags/tag113.xml"/><Relationship Id="rId3" Type="http://schemas.openxmlformats.org/officeDocument/2006/relationships/image" Target="../media/image2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2265" y="164003"/>
            <a:ext cx="1026825" cy="1026825"/>
          </a:xfrm>
          <a:prstGeom prst="rect">
            <a:avLst/>
          </a:prstGeom>
        </p:spPr>
      </p:pic>
      <p:cxnSp>
        <p:nvCxnSpPr>
          <p:cNvPr id="7" name="Straight Connector 6"/>
          <p:cNvCxnSpPr/>
          <p:nvPr>
            <p:custDataLst>
              <p:tags r:id="rId3"/>
            </p:custDataLst>
          </p:nvPr>
        </p:nvCxnSpPr>
        <p:spPr>
          <a:xfrm>
            <a:off x="399637" y="2052976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2101850" y="2121535"/>
            <a:ext cx="7890510" cy="1068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NATURAL LANGUAGE PROCESSING</a:t>
            </a:r>
            <a:endParaRPr lang="en-US" altLang="en-US" sz="4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4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LABORATORY (ECL-545)</a:t>
            </a:r>
            <a:endParaRPr lang="en-US" altLang="en-US" sz="4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247515" y="4186555"/>
            <a:ext cx="3598545" cy="1162685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Presented by-</a:t>
            </a:r>
            <a:endParaRPr lang="en-US" sz="14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</a:rPr>
              <a:t>Group No.-09</a:t>
            </a:r>
            <a:endParaRPr lang="en-US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Ishita Sood (MT24AAI165)</a:t>
            </a:r>
            <a:endParaRPr lang="en-US" sz="12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Shubham Saxena (MT24AAC034)</a:t>
            </a:r>
            <a:endParaRPr lang="en-US" altLang="en-US" sz="12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177030" y="5712460"/>
            <a:ext cx="3869690" cy="9067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Under the supervision of</a:t>
            </a:r>
            <a:endParaRPr lang="en-US" sz="14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20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Prof. Saugata Sinha</a:t>
            </a:r>
            <a:endParaRPr lang="en-US" altLang="en-US" sz="20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VNIT Nagpur</a:t>
            </a:r>
            <a:endParaRPr lang="en-US" sz="2000" b="1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Date Placeholder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DD5500-71C4-4001-8F33-8C22722166F3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IN" dirty="0" smtClean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2" name="Slide Number Placeholder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US" dirty="0" smtClean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9"/>
            </p:custDataLst>
          </p:nvPr>
        </p:nvSpPr>
        <p:spPr>
          <a:xfrm>
            <a:off x="2999867" y="1036678"/>
            <a:ext cx="6094476" cy="10147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Executive </a:t>
            </a:r>
            <a:r>
              <a:rPr lang="en-US" sz="2000" dirty="0" err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M.Tech</a:t>
            </a:r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. in Applied AI &amp; Communication</a:t>
            </a:r>
            <a:endParaRPr lang="en-US" sz="2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Cohort- 3A &amp; 3B, Sem-3</a:t>
            </a:r>
            <a:endParaRPr lang="en-US" sz="2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Final Evaluation (10/05/2026)</a:t>
            </a:r>
            <a:endParaRPr lang="en-US" sz="2000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2643505" y="317500"/>
            <a:ext cx="8698865" cy="720090"/>
          </a:xfrm>
        </p:spPr>
        <p:txBody>
          <a:bodyPr vert="horz" wrap="square" lIns="0" tIns="0" rIns="0" bIns="0" rtlCol="0" anchor="b">
            <a:normAutofit fontScale="90000"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665" dirty="0">
                <a:solidFill>
                  <a:schemeClr val="tx1"/>
                </a:solidFill>
                <a:latin typeface="Sitka Heading" panose="02000505000000020004" charset="0"/>
                <a:ea typeface="+mj-ea"/>
                <a:cs typeface="Sitka Heading" panose="02000505000000020004" charset="0"/>
                <a:sym typeface="+mn-ea"/>
              </a:rPr>
              <a:t>Visvesvaraya National Institute of Technology, Nagpur</a:t>
            </a:r>
            <a:endParaRPr lang="en-US" sz="2665" dirty="0">
              <a:solidFill>
                <a:schemeClr val="tx1"/>
              </a:solidFill>
              <a:latin typeface="Sitka Heading" panose="02000505000000020004" charset="0"/>
              <a:ea typeface="+mj-ea"/>
              <a:cs typeface="Sitka Heading" panose="020005050000000200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2665" dirty="0">
                <a:solidFill>
                  <a:schemeClr val="tx1"/>
                </a:solidFill>
                <a:latin typeface="Sitka Heading" panose="02000505000000020004" charset="0"/>
                <a:ea typeface="+mj-ea"/>
                <a:cs typeface="Sitka Heading" panose="02000505000000020004" charset="0"/>
                <a:sym typeface="+mn-ea"/>
              </a:rPr>
              <a:t>Electronics and Communication Engineering Department</a:t>
            </a:r>
            <a:endParaRPr lang="en-US" sz="2665" dirty="0">
              <a:solidFill>
                <a:schemeClr val="tx1"/>
              </a:solidFill>
              <a:latin typeface="Sitka Heading" panose="02000505000000020004" charset="0"/>
              <a:ea typeface="+mj-ea"/>
              <a:cs typeface="Sitka Heading" panose="02000505000000020004" charset="0"/>
              <a:sym typeface="+mn-ea"/>
            </a:endParaRPr>
          </a:p>
        </p:txBody>
      </p:sp>
      <p:cxnSp>
        <p:nvCxnSpPr>
          <p:cNvPr id="19" name="Straight Connector 18"/>
          <p:cNvCxnSpPr/>
          <p:nvPr>
            <p:custDataLst>
              <p:tags r:id="rId11"/>
            </p:custDataLst>
          </p:nvPr>
        </p:nvCxnSpPr>
        <p:spPr>
          <a:xfrm>
            <a:off x="2263362" y="3431561"/>
            <a:ext cx="7668895" cy="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>
            <p:custDataLst>
              <p:tags r:id="rId12"/>
            </p:custDataLst>
          </p:nvPr>
        </p:nvCxnSpPr>
        <p:spPr>
          <a:xfrm>
            <a:off x="2291937" y="4114186"/>
            <a:ext cx="7639685" cy="3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7"/>
          <p:cNvSpPr txBox="1"/>
          <p:nvPr>
            <p:custDataLst>
              <p:tags r:id="rId13"/>
            </p:custDataLst>
          </p:nvPr>
        </p:nvSpPr>
        <p:spPr>
          <a:xfrm>
            <a:off x="2472690" y="3559810"/>
            <a:ext cx="7245985" cy="490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800" b="1" dirty="0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</a:rPr>
              <a:t>Automated Analysis of Meter Testing Remarks</a:t>
            </a:r>
            <a:endParaRPr lang="en-US" altLang="en-US" sz="2800" b="1" dirty="0">
              <a:solidFill>
                <a:srgbClr val="FF0000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cxnSp>
        <p:nvCxnSpPr>
          <p:cNvPr id="23" name="Straight Connector 22"/>
          <p:cNvCxnSpPr/>
          <p:nvPr>
            <p:custDataLst>
              <p:tags r:id="rId14"/>
            </p:custDataLst>
          </p:nvPr>
        </p:nvCxnSpPr>
        <p:spPr>
          <a:xfrm flipV="1">
            <a:off x="4298537" y="5480071"/>
            <a:ext cx="3598545" cy="6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>
          <a:xfrm>
            <a:off x="838200" y="374015"/>
            <a:ext cx="10515600" cy="915035"/>
          </a:xfrm>
        </p:spPr>
        <p:txBody>
          <a:bodyPr/>
          <a:p>
            <a:r>
              <a:rPr lang="en-US">
                <a:latin typeface="Sitka Heading" panose="02000505000000020004" charset="0"/>
                <a:ea typeface="+mj-ea"/>
                <a:cs typeface="Sitka Heading" panose="02000505000000020004" charset="0"/>
              </a:rPr>
              <a:t>Contents </a:t>
            </a:r>
            <a:endParaRPr lang="en-US">
              <a:latin typeface="Sitka Heading" panose="02000505000000020004" charset="0"/>
              <a:ea typeface="+mj-ea"/>
              <a:cs typeface="Sitka Heading" panose="0200050500000002000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2804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Sitka Display" panose="02000505000000020004" charset="0"/>
                <a:cs typeface="Sitka Display" panose="02000505000000020004" charset="0"/>
              </a:rPr>
              <a:t>Problem Statement</a:t>
            </a:r>
            <a:endParaRPr lang="en-US" sz="3200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sz="3200" b="1" dirty="0">
                <a:latin typeface="Sitka Display" panose="02000505000000020004" charset="0"/>
                <a:cs typeface="Sitka Display" panose="02000505000000020004" charset="0"/>
              </a:rPr>
              <a:t>Dataset Structure</a:t>
            </a:r>
            <a:endParaRPr lang="en-US" sz="3200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sz="3200" b="1" dirty="0">
                <a:latin typeface="Sitka Display" panose="02000505000000020004" charset="0"/>
                <a:cs typeface="Sitka Display" panose="02000505000000020004" charset="0"/>
              </a:rPr>
              <a:t>Results Obtained</a:t>
            </a:r>
            <a:endParaRPr lang="en-US" sz="3200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sz="3200" b="1" dirty="0">
                <a:latin typeface="Sitka Display" panose="02000505000000020004" charset="0"/>
                <a:cs typeface="Sitka Display" panose="02000505000000020004" charset="0"/>
              </a:rPr>
              <a:t>Contributon of Each Members</a:t>
            </a:r>
            <a:endParaRPr lang="en-US" sz="3200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sz="3200" b="1" dirty="0">
                <a:latin typeface="Sitka Display" panose="02000505000000020004" charset="0"/>
                <a:cs typeface="Sitka Display" panose="02000505000000020004" charset="0"/>
              </a:rPr>
              <a:t>Tools and Technologies</a:t>
            </a:r>
            <a:endParaRPr lang="en-US" sz="3200" b="1" dirty="0"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sz="3200" b="1" dirty="0">
                <a:latin typeface="Sitka Display" panose="02000505000000020004" charset="0"/>
                <a:cs typeface="Sitka Display" panose="02000505000000020004" charset="0"/>
              </a:rPr>
              <a:t>Preview of GitHub Repository</a:t>
            </a:r>
            <a:endParaRPr lang="en-US" sz="3200" b="1" dirty="0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Date Placeholder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E0E4A5-9B2D-42E2-A09F-AFAF775BA73B}" type="datetime1">
              <a:rPr lang="en-IN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IN" smtClean="0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1346200" y="4055745"/>
            <a:ext cx="3996055" cy="28829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Content Placeholder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1185" y="1248410"/>
            <a:ext cx="4861560" cy="5107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q"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Problem Statement:</a:t>
            </a:r>
            <a:b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b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In utility meter testing operations, site engineers enter textual remarks during testing and inspection activities. These remarks are manually analyzed and forwarded to concerned departments such as: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Field Operation/Meter Testing 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Meter Replacement/Installation 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Network/Zone Maintainance 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Customer Care/Call Center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CEG/Enforcement/Vigilance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Manual routing: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consumes time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increases human dependency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may cause incorrect routing</a:t>
            </a:r>
            <a:endParaRPr lang="en-US" altLang="en-US" sz="12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pPr lvl="1"/>
            <a:r>
              <a:rPr lang="en-US" altLang="en-US" sz="1200">
                <a:latin typeface="Sitka Display" panose="02000505000000020004" charset="0"/>
                <a:cs typeface="Sitka Display" panose="02000505000000020004" charset="0"/>
                <a:sym typeface="+mn-ea"/>
              </a:rPr>
              <a:t>delays complaint resolution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  <a:sym typeface="+mn-ea"/>
            </a:endParaRPr>
          </a:p>
          <a:p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Hence, an AI-based intelligent routing system is required that can automatically understand meter testing remarks and predict the appropriate concerned department with high accuracy.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3" name="Date Placeholder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60C17A-1D3B-4747-8E76-739B3EB99950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IN" smtClean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 lang="en-US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50520" y="434340"/>
            <a:ext cx="11252835" cy="72009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>
                <a:latin typeface="Sitka Heading" panose="02000505000000020004" charset="0"/>
                <a:ea typeface="+mj-ea"/>
                <a:cs typeface="Sitka Heading" panose="02000505000000020004" charset="0"/>
                <a:sym typeface="+mn-ea"/>
              </a:rPr>
              <a:t>Problem Statement</a:t>
            </a:r>
            <a:endParaRPr lang="en-US" dirty="0">
              <a:solidFill>
                <a:schemeClr val="tx1"/>
              </a:solidFill>
              <a:latin typeface="Sitka Heading" panose="02000505000000020004" charset="0"/>
              <a:ea typeface="+mj-ea"/>
              <a:cs typeface="Sitka Heading" panose="02000505000000020004" charset="0"/>
              <a:sym typeface="+mn-ea"/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5811520" y="1249045"/>
            <a:ext cx="5485765" cy="500126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p>
            <a:pPr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Project Objective: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To automate meter testing remark analysis using AI and NLP.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To reduce manual intervention in complaint routing.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To classify remarks into concerned departments automatically.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To generate confidence scores for predictions.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To support bulk CSV-based prediction for real-time utility operations.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To compare performance of multiple ML/DL models.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599430" y="4055745"/>
            <a:ext cx="5873115" cy="121793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solidFill>
                  <a:srgbClr val="FFFF00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Meter Testing Remarks → Standard Action Categories</a:t>
            </a:r>
            <a:endParaRPr lang="en-US" altLang="en-US" b="1">
              <a:solidFill>
                <a:srgbClr val="FFFF00"/>
              </a:solidFill>
              <a:latin typeface="Sitka Display" panose="02000505000000020004" charset="0"/>
              <a:cs typeface="Sitka Display" panose="02000505000000020004" charset="0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15595" y="360045"/>
            <a:ext cx="11180445" cy="720090"/>
          </a:xfrm>
        </p:spPr>
        <p:txBody>
          <a:bodyPr/>
          <a:p>
            <a:r>
              <a:rPr lang="en-US">
                <a:latin typeface="Sitka Heading" panose="02000505000000020004" charset="0"/>
                <a:cs typeface="Sitka Heading" panose="02000505000000020004" charset="0"/>
              </a:rPr>
              <a:t>Dataset Structure</a:t>
            </a:r>
            <a:endParaRPr lang="en-US">
              <a:latin typeface="Sitka Heading" panose="02000505000000020004" charset="0"/>
              <a:cs typeface="Sitka Heading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15595" y="1080135"/>
            <a:ext cx="4351655" cy="5240655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Dataset Structure: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Training Data: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 Historical meter testing remarks with department labels used for model training.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Testing Data: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 New unseen remarks used for model testing and validation.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Source of Data: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 Real-time utility meter testing records and manually labeled departmental routing data.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Structure &amp; Description of Dataset: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165" b="1">
                <a:latin typeface="Sitka Display" panose="02000505000000020004" charset="0"/>
                <a:cs typeface="Sitka Display" panose="02000505000000020004" charset="0"/>
              </a:rPr>
              <a:t>Text Remarks: </a:t>
            </a:r>
            <a:r>
              <a:rPr lang="en-US" altLang="en-US" sz="1165">
                <a:latin typeface="Sitka Display" panose="02000505000000020004" charset="0"/>
                <a:cs typeface="Sitka Display" panose="02000505000000020004" charset="0"/>
              </a:rPr>
              <a:t>Meter Testing remarks entered by engineers</a:t>
            </a:r>
            <a:endParaRPr lang="en-US" altLang="en-US" sz="1165" b="1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165" b="1">
                <a:latin typeface="Sitka Display" panose="02000505000000020004" charset="0"/>
                <a:cs typeface="Sitka Display" panose="02000505000000020004" charset="0"/>
              </a:rPr>
              <a:t>Action Category: </a:t>
            </a:r>
            <a:r>
              <a:rPr lang="en-US" altLang="en-US" sz="1165">
                <a:latin typeface="Sitka Display" panose="02000505000000020004" charset="0"/>
                <a:cs typeface="Sitka Display" panose="02000505000000020004" charset="0"/>
              </a:rPr>
              <a:t>Actual Concerned department label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# Sample of Dataset: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53835" y="1304925"/>
            <a:ext cx="5116830" cy="51911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5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fld id="{2660C17A-1D3B-4747-8E76-739B3EB99950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474980" y="4300855"/>
          <a:ext cx="11195685" cy="2743200"/>
        </p:xfrm>
        <a:graphic>
          <a:graphicData uri="http://schemas.openxmlformats.org/drawingml/2006/table">
            <a:tbl>
              <a:tblPr/>
              <a:tblGrid>
                <a:gridCol w="7245985"/>
                <a:gridCol w="3949700"/>
              </a:tblGrid>
              <a:tr h="184150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TEXT_REMARKS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ACTION_CATEGORY</a:t>
                      </a:r>
                      <a:endParaRPr sz="1200" b="1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accuacheck connection not possible in unsafe conditions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Field Operations / Meter Testing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 PHASE VOLTAGE MISSING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Network / Zone Maintenance Team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Battery low is showing on meter displayMeter need to be replacement required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Replacement / Installation Team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CONSUMER NOT PROVIDE KEY SO METER COULDNT BE TESTED AT THE TIME OF TESTING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Field Operations / Meter Testing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Consumer refused to test the meter sunil Kumar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Back-Office / Administrative Operations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Cover open event appear on meter displayrefer to CEG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CEG / Enforcement / Vigilance Team</a:t>
                      </a:r>
                      <a:endParaRPr sz="12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marL="45720" marR="4572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5"/>
            </p:custDataLst>
          </p:nvPr>
        </p:nvGraphicFramePr>
        <p:xfrm>
          <a:off x="4732655" y="989330"/>
          <a:ext cx="6938010" cy="28219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71625"/>
                <a:gridCol w="2672715"/>
                <a:gridCol w="2693670"/>
              </a:tblGrid>
              <a:tr h="28130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Parameter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Training Dataset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Testing Dataset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</a:tr>
              <a:tr h="28130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Purpose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Model learning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Model evaluation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280670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Data Used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Historical labeled remarks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Unseen new remarks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281305">
                <a:tc>
                  <a:txBody>
                    <a:bodyPr/>
                    <a:p>
                      <a:r>
                        <a:rPr sz="1100" b="1">
                          <a:latin typeface="Sitka Display" panose="02000505000000020004" charset="0"/>
                          <a:cs typeface="Sitka Display" panose="02000505000000020004" charset="0"/>
                        </a:rPr>
                        <a:t>Number of Columns</a:t>
                      </a:r>
                      <a:endParaRPr sz="11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2 Columns</a:t>
                      </a:r>
                      <a:endParaRPr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2 Columns</a:t>
                      </a:r>
                      <a:endParaRPr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281305">
                <a:tc>
                  <a:txBody>
                    <a:bodyPr/>
                    <a:p>
                      <a:r>
                        <a:rPr sz="1100" b="1">
                          <a:latin typeface="Sitka Display" panose="02000505000000020004" charset="0"/>
                          <a:cs typeface="Sitka Display" panose="02000505000000020004" charset="0"/>
                        </a:rPr>
                        <a:t>Column Names</a:t>
                      </a:r>
                      <a:endParaRPr sz="11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Input Feature: [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TEXT_REMARKS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]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, </a:t>
                      </a:r>
                      <a:endParaRPr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  <a:p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Output Label: [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ACTION_CATEGORY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]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Input Fetture: [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TEXT_REMARKS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]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, 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Output Label</a:t>
                      </a:r>
                      <a:r>
                        <a:rPr lang="en-US" sz="1100" b="1">
                          <a:solidFill>
                            <a:srgbClr val="FF0000"/>
                          </a:solidFill>
                          <a:latin typeface="Sitka Display" panose="02000505000000020004" charset="0"/>
                          <a:cs typeface="Sitka Display" panose="02000505000000020004" charset="0"/>
                        </a:rPr>
                        <a:t>*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: [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ACTION_CATEGORY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]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281305">
                <a:tc>
                  <a:txBody>
                    <a:bodyPr/>
                    <a:p>
                      <a:r>
                        <a:rPr sz="1100" b="1">
                          <a:latin typeface="Sitka Display" panose="02000505000000020004" charset="0"/>
                          <a:cs typeface="Sitka Display" panose="02000505000000020004" charset="0"/>
                        </a:rPr>
                        <a:t>Dataset Size</a:t>
                      </a:r>
                      <a:endParaRPr sz="11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15524 Records</a:t>
                      </a:r>
                      <a:r>
                        <a:rPr lang="en-US" sz="1100" b="1">
                          <a:solidFill>
                            <a:srgbClr val="FF0000"/>
                          </a:solidFill>
                          <a:latin typeface="Sitka Display" panose="02000505000000020004" charset="0"/>
                          <a:cs typeface="Sitka Display" panose="02000505000000020004" charset="0"/>
                        </a:rPr>
                        <a:t>**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 (12,736 OK; 2788 Not OK)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10509 Records (8243 OK, 2266 Not OK)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2813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100" b="1">
                          <a:latin typeface="Sitka Display" panose="02000505000000020004" charset="0"/>
                          <a:cs typeface="Sitka Display" panose="02000505000000020004" charset="0"/>
                        </a:rPr>
                        <a:t>Cancellation Code</a:t>
                      </a:r>
                      <a:endParaRPr lang="en-US" sz="11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27 Different Cancellation Codes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Same as Training Dataset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281305">
                <a:tc>
                  <a:txBody>
                    <a:bodyPr/>
                    <a:p>
                      <a:r>
                        <a:rPr sz="1100" b="1">
                          <a:latin typeface="Sitka Display" panose="02000505000000020004" charset="0"/>
                          <a:cs typeface="Sitka Display" panose="02000505000000020004" charset="0"/>
                        </a:rPr>
                        <a:t>Department Classes</a:t>
                      </a:r>
                      <a:endParaRPr sz="11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8 Departments</a:t>
                      </a:r>
                      <a:endParaRPr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alt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Same as Training Dataset</a:t>
                      </a:r>
                      <a:endParaRPr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426720">
                <a:tc>
                  <a:txBody>
                    <a:bodyPr/>
                    <a:p>
                      <a:r>
                        <a:rPr sz="1100" b="1">
                          <a:latin typeface="Sitka Display" panose="02000505000000020004" charset="0"/>
                          <a:cs typeface="Sitka Display" panose="02000505000000020004" charset="0"/>
                        </a:rPr>
                        <a:t>Sample Structure</a:t>
                      </a:r>
                      <a:endParaRPr sz="11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Text Remark → </a:t>
                      </a:r>
                      <a:endParaRPr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  <a:p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Action Category ‘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Department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’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Text Remark → </a:t>
                      </a:r>
                      <a:endParaRPr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  <a:p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Action Category ‘</a:t>
                      </a:r>
                      <a:r>
                        <a:rPr sz="1100">
                          <a:latin typeface="Sitka Display" panose="02000505000000020004" charset="0"/>
                          <a:cs typeface="Sitka Display" panose="02000505000000020004" charset="0"/>
                        </a:rPr>
                        <a:t>Department</a:t>
                      </a:r>
                      <a:r>
                        <a:rPr lang="en-US" sz="1100">
                          <a:latin typeface="Sitka Display" panose="02000505000000020004" charset="0"/>
                          <a:cs typeface="Sitka Display" panose="02000505000000020004" charset="0"/>
                        </a:rPr>
                        <a:t>’</a:t>
                      </a:r>
                      <a:endParaRPr lang="en-US" sz="11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1" name="Text Box 20"/>
          <p:cNvSpPr txBox="1"/>
          <p:nvPr/>
        </p:nvSpPr>
        <p:spPr>
          <a:xfrm>
            <a:off x="4752975" y="3838575"/>
            <a:ext cx="6222365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900" b="1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</a:rPr>
              <a:t>* </a:t>
            </a:r>
            <a:r>
              <a:rPr lang="en-US" sz="900" b="1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  <a:sym typeface="+mn-ea"/>
              </a:rPr>
              <a:t>Here Ouput Label is taken to get “Final Prediction” Confusion Matrix.</a:t>
            </a:r>
            <a:endParaRPr lang="en-US" sz="900" b="1">
              <a:solidFill>
                <a:srgbClr val="FF0000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sz="900" b="1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</a:rPr>
              <a:t>** This 15524 is reduced to 5958 (3314: OK; 2644: NOT OK)  to avoid Baising towards Tested OK cases.  </a:t>
            </a:r>
            <a:endParaRPr lang="en-US" sz="900" b="1">
              <a:solidFill>
                <a:srgbClr val="FF0000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15595" y="233045"/>
            <a:ext cx="11180445" cy="720090"/>
          </a:xfrm>
        </p:spPr>
        <p:txBody>
          <a:bodyPr/>
          <a:p>
            <a:r>
              <a:rPr lang="en-US">
                <a:latin typeface="Sitka Heading" panose="02000505000000020004" charset="0"/>
                <a:cs typeface="Sitka Heading" panose="02000505000000020004" charset="0"/>
              </a:rPr>
              <a:t>Results Obtained </a:t>
            </a:r>
            <a:endParaRPr lang="en-US">
              <a:latin typeface="Sitka Heading" panose="02000505000000020004" charset="0"/>
              <a:cs typeface="Sitka Heading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25120" y="953135"/>
            <a:ext cx="5625465" cy="5240655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 b="1" u="sng">
                <a:latin typeface="Sitka Display" panose="02000505000000020004" charset="0"/>
                <a:cs typeface="Sitka Display" panose="02000505000000020004" charset="0"/>
              </a:rPr>
              <a:t>Models Used for Prediction: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1. Logistic Regression: 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Baseline ML classification model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2. Support Vector Machine (SVM):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High-performance text classification model</a:t>
            </a:r>
            <a:endParaRPr lang="en-US" altLang="en-US" sz="14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3. Artificial Neural Network (ANN): </a:t>
            </a: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Deep learning-based intelligent classification model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53835" y="1304925"/>
            <a:ext cx="5116830" cy="51911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6905" lvl="2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40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5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fld id="{2660C17A-1D3B-4747-8E76-739B3EB99950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25120" y="2523490"/>
            <a:ext cx="2107565" cy="382524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Meter Remarks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      ↓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Text Preprocessing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      ↓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TF-IDF Vectorization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      ↓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Model Training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(Logistic / SVM / ANN)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      ↓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Prediction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      ↓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Confidence Score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      ↓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Department Routing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      ↓</a:t>
            </a:r>
            <a:endParaRPr lang="en-US" altLang="en-US" sz="1400" b="1">
              <a:latin typeface="Sitka Display" panose="02000505000000020004" charset="0"/>
              <a:cs typeface="Sitka Display" panose="02000505000000020004" charset="0"/>
            </a:endParaRPr>
          </a:p>
          <a:p>
            <a:pPr algn="ctr"/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</a:rPr>
              <a:t>CSV Output Generation</a:t>
            </a:r>
            <a:endParaRPr lang="en-US" sz="1400" b="1">
              <a:latin typeface="Sitka Display" panose="02000505000000020004" charset="0"/>
              <a:cs typeface="Sitka Display" panose="02000505000000020004" charset="0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5"/>
            </p:custDataLst>
          </p:nvPr>
        </p:nvGraphicFramePr>
        <p:xfrm>
          <a:off x="6014720" y="573405"/>
          <a:ext cx="579882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4575"/>
                <a:gridCol w="1141095"/>
                <a:gridCol w="1066165"/>
                <a:gridCol w="1397000"/>
                <a:gridCol w="1149985"/>
              </a:tblGrid>
              <a:tr h="241935"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Sitka Display" panose="02000505000000020004" charset="0"/>
                          <a:cs typeface="Sitka Display" panose="02000505000000020004" charset="0"/>
                        </a:rPr>
                        <a:t>Target Variable: Predicted Concerned Department</a:t>
                      </a:r>
                      <a:endParaRPr lang="en-US" sz="1400" b="1">
                        <a:solidFill>
                          <a:srgbClr val="FF0000"/>
                        </a:solidFill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</a:tr>
              <a:tr h="241935">
                <a:tc>
                  <a:txBody>
                    <a:bodyPr/>
                    <a:p>
                      <a:pPr algn="ctr"/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Model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Accuracy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Precision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Recall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F1-Score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Logistic Regression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98.90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96.57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93.42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95.14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241935">
                <a:tc>
                  <a:txBody>
                    <a:bodyPr/>
                    <a:p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SVM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99.24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98.85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97.14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98.00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241935">
                <a:tc>
                  <a:txBody>
                    <a:bodyPr/>
                    <a:p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ANN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99.07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98.85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97.42 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/>
                      <a:r>
                        <a:rPr lang="en-US"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98.14</a:t>
                      </a:r>
                      <a:r>
                        <a:rPr sz="1400" b="1">
                          <a:latin typeface="Sitka Display" panose="02000505000000020004" charset="0"/>
                          <a:cs typeface="Sitka Display" panose="02000505000000020004" charset="0"/>
                        </a:rPr>
                        <a:t>%</a:t>
                      </a:r>
                      <a:endParaRPr sz="14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2870835" y="2523490"/>
          <a:ext cx="8952865" cy="3825240"/>
        </p:xfrm>
        <a:graphic>
          <a:graphicData uri="http://schemas.openxmlformats.org/drawingml/2006/table">
            <a:tbl>
              <a:tblPr/>
              <a:tblGrid>
                <a:gridCol w="2252345"/>
                <a:gridCol w="1437005"/>
                <a:gridCol w="1960245"/>
                <a:gridCol w="1036955"/>
                <a:gridCol w="1039495"/>
                <a:gridCol w="1226820"/>
              </a:tblGrid>
              <a:tr h="42672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chemeClr val="tx1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TEXT_REMARKS</a:t>
                      </a:r>
                      <a:endParaRPr sz="1100" b="0" i="0">
                        <a:solidFill>
                          <a:schemeClr val="tx1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chemeClr val="tx1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ACTION_CATEGORY</a:t>
                      </a:r>
                      <a:endParaRPr sz="1100" b="0" i="0">
                        <a:solidFill>
                          <a:schemeClr val="tx1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chemeClr val="tx1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PREDICTED_DEPARTMENT</a:t>
                      </a:r>
                      <a:endParaRPr sz="1100" b="0" i="0">
                        <a:solidFill>
                          <a:schemeClr val="tx1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chemeClr val="tx1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CONFIDENCE_SCORE</a:t>
                      </a:r>
                      <a:endParaRPr sz="1100" b="0" i="0">
                        <a:solidFill>
                          <a:schemeClr val="tx1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chemeClr val="tx1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CONFIDENCE_RANGE</a:t>
                      </a:r>
                      <a:endParaRPr sz="1100" b="0" i="0">
                        <a:solidFill>
                          <a:schemeClr val="tx1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chemeClr val="tx1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MATCH_STATUS</a:t>
                      </a:r>
                      <a:endParaRPr sz="1100" b="0" i="0">
                        <a:solidFill>
                          <a:schemeClr val="tx1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Enforcement ir found on meter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CEG / Enforcement / Vigilance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CEG / Enforcement / Vigilance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83.36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90-75% High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Correct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as per system meter retain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Scheduling / Field Dispatch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Replacement / Installation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64.9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75-50% Medium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Wrong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Current Parameter of Phase and Neutral is not matching therefore same is defective 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Replacement / Installation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Meter Replacement / Installation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97.33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100-90% Very High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Correct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As per Consumer Wrong notification Generated Take by Sageeta ji Daughter in law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Scheduling / Field Dispatch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Field Operations / Meter Testing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46.17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Below 50% Low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Wrong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Consumer dont want to test their meter as their query already resolved hence this request needs to be closed Contacted Person Deepak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Scheduling / Field Dispatch Team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Back-Office / Administrative Operations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52.97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75-50% Medium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Wrong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consumer refused to meter testing so could not be meter tested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Back-Office / Administrative Operations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Back-Office / Administrative Operations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95.97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100-90% Very High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Sitka Display" panose="02000505000000020004" charset="0"/>
                          <a:ea typeface="Calibri" panose="020F0502020204030204"/>
                          <a:cs typeface="Sitka Display" panose="02000505000000020004" charset="0"/>
                        </a:rPr>
                        <a:t>Correct</a:t>
                      </a:r>
                      <a:endParaRPr sz="1100" b="0" i="0">
                        <a:solidFill>
                          <a:srgbClr val="000000"/>
                        </a:solidFill>
                        <a:latin typeface="Sitka Display" panose="02000505000000020004" charset="0"/>
                        <a:ea typeface="Calibri" panose="020F0502020204030204"/>
                        <a:cs typeface="Sitka Display" panose="02000505000000020004" charset="0"/>
                      </a:endParaRPr>
                    </a:p>
                  </a:txBody>
                  <a:tcPr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15595" y="360045"/>
            <a:ext cx="11180445" cy="720090"/>
          </a:xfrm>
        </p:spPr>
        <p:txBody>
          <a:bodyPr/>
          <a:p>
            <a:pPr algn="ctr"/>
            <a:r>
              <a:rPr lang="en-US">
                <a:latin typeface="Sitka Heading" panose="02000505000000020004" charset="0"/>
                <a:cs typeface="Sitka Heading" panose="02000505000000020004" charset="0"/>
              </a:rPr>
              <a:t>Contribution of Each Member</a:t>
            </a:r>
            <a:endParaRPr lang="en-US">
              <a:latin typeface="Sitka Heading" panose="02000505000000020004" charset="0"/>
              <a:cs typeface="Sitka Heading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15595" y="1480820"/>
            <a:ext cx="5611495" cy="5240655"/>
          </a:xfrm>
        </p:spPr>
        <p:txBody>
          <a:bodyPr>
            <a:noAutofit/>
          </a:bodyPr>
          <a:p>
            <a:pPr marL="0"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2000" b="1">
                <a:latin typeface="Sitka Display" panose="02000505000000020004" charset="0"/>
                <a:cs typeface="Sitka Display" panose="02000505000000020004" charset="0"/>
              </a:rPr>
              <a:t>Ishita Sood [MT24AAI165]</a:t>
            </a:r>
            <a:endParaRPr lang="en-US" altLang="en-US" sz="16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6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NLP Model Development &amp; Performance Analysis</a:t>
            </a:r>
            <a:endParaRPr lang="en-US" altLang="en-US" sz="16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6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Performed preprocessing of unstructured Site Engineer remarks including text cleaning and normalization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Implemented TF-IDF based textual feature extraction for NLP classification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Developed and trained Machine Learning models using Logistic Regression, Support Vector Machine (SVM), and Artificial Neural Network (ANN)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Executed multi-class department classification for automatic case routing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Evaluated and compared model performance using Accuracy, Precision, Recall, and F1-Score metrics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Performed prediction validation and comparative analysis for final model optimization and deployment readiness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5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fld id="{2660C17A-1D3B-4747-8E76-739B3EB99950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78550" y="1480820"/>
            <a:ext cx="5780405" cy="52406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2000" b="1">
                <a:latin typeface="Sitka Display" panose="02000505000000020004" charset="0"/>
                <a:cs typeface="Sitka Display" panose="02000505000000020004" charset="0"/>
              </a:rPr>
              <a:t>Shubham Saxena [MT24AAC034]</a:t>
            </a:r>
            <a:endParaRPr lang="en-US" altLang="en-US" sz="20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algn="ctr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600" b="1" u="sng">
                <a:latin typeface="Sitka Display" panose="02000505000000020004" charset="0"/>
                <a:cs typeface="Sitka Display" panose="02000505000000020004" charset="0"/>
              </a:rPr>
              <a:t>Dataset Collection, Repository Management &amp; Validation</a:t>
            </a:r>
            <a:endParaRPr lang="en-US" altLang="en-US" sz="16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600" b="1" u="sng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Collected real-time meter testing remarks directly from utility testing databases and Site Engineer operational records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Organized and structured raw testing remarks with corresponding departmental routing labels for supervised learning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Created and maintained a centralized project repository for consolidation of datasets, source files, model outputs, and documentation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Performed data verification, consistency checking, and validation of departmental mappings for improved data quality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Prepared training and testing datasets using actual field-level utility operational data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</a:rPr>
              <a:t>Conducted testing on unseen real-world remarks and verified prediction outputs for routing accuracy and result validation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15595" y="360045"/>
            <a:ext cx="11180445" cy="720090"/>
          </a:xfrm>
        </p:spPr>
        <p:txBody>
          <a:bodyPr/>
          <a:p>
            <a:r>
              <a:rPr lang="en-US">
                <a:latin typeface="Sitka Heading" panose="02000505000000020004" charset="0"/>
                <a:cs typeface="Sitka Heading" panose="02000505000000020004" charset="0"/>
              </a:rPr>
              <a:t>Tools &amp; Technologies used :</a:t>
            </a:r>
            <a:endParaRPr lang="en-US">
              <a:latin typeface="Sitka Heading" panose="02000505000000020004" charset="0"/>
              <a:cs typeface="Sitka Heading" panose="0200050500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15595" y="1405255"/>
            <a:ext cx="5611495" cy="5240655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Tools and Technologies Used:</a:t>
            </a:r>
            <a:endParaRPr lang="en-US" altLang="en-US" sz="1400" b="1" u="sng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5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fld id="{2660C17A-1D3B-4747-8E76-739B3EB99950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78550" y="1480820"/>
            <a:ext cx="5780405" cy="52406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1400" b="1" u="sng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GitHub Repository: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>
                <a:latin typeface="Sitka Display" panose="02000505000000020004" charset="0"/>
                <a:cs typeface="Sitka Display" panose="02000505000000020004" charset="0"/>
                <a:sym typeface="+mn-ea"/>
              </a:rPr>
              <a:t>Project Objective: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</a:rPr>
              <a:t>AI-based intelligent routing system for automatic classification of utility meter testing remarks into concerned departments.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Project Files Available: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Source Code</a:t>
            </a:r>
            <a:endParaRPr lang="en-US" altLang="en-US" sz="1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Input Dataset</a:t>
            </a:r>
            <a:endParaRPr lang="en-US" altLang="en-US" sz="1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Preprocessed Dataset</a:t>
            </a:r>
            <a:endParaRPr lang="en-US" altLang="en-US" sz="1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Output CSV Files</a:t>
            </a:r>
            <a:endParaRPr lang="en-US" altLang="en-US" sz="1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ANN/SVM/LR Models</a:t>
            </a:r>
            <a:endParaRPr lang="en-US" altLang="en-US" sz="133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33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Project Documentation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fontAlgn="auto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1400" b="1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GitHub Link:</a:t>
            </a:r>
            <a:endParaRPr lang="en-US" altLang="en-US" sz="1400" b="1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40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  <a:hlinkClick r:id="rId5" action="ppaction://hlinkfile"/>
              </a:rPr>
              <a:t>https://github.com/shubham300701/AI-Meter-Remark-Classification.git</a:t>
            </a:r>
            <a:endParaRPr lang="en-US" altLang="en-US" sz="140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6"/>
            </p:custDataLst>
          </p:nvPr>
        </p:nvGraphicFramePr>
        <p:xfrm>
          <a:off x="540385" y="1895475"/>
          <a:ext cx="5161280" cy="28892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9890"/>
                <a:gridCol w="3501390"/>
              </a:tblGrid>
              <a:tr h="31305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Tool / Technology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Purpose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>
                    <a:solidFill>
                      <a:srgbClr val="FFFF00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Google Colab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Code execution and training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313690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Python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Programming language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31305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Pandas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Data handling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313690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NumPy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Numerical operations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31305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Scikit-learn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ML algorithms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31305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TensorFlow / Keras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ANN model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313690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TF-IDF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NLP vectorization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  <a:tr h="313055">
                <a:tc>
                  <a:txBody>
                    <a:bodyPr/>
                    <a:p>
                      <a:r>
                        <a:rPr sz="1200" b="1">
                          <a:latin typeface="Sitka Display" panose="02000505000000020004" charset="0"/>
                          <a:cs typeface="Sitka Display" panose="02000505000000020004" charset="0"/>
                        </a:rPr>
                        <a:t>GitHub</a:t>
                      </a:r>
                      <a:endParaRPr sz="1200" b="1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sz="1200">
                          <a:latin typeface="Sitka Display" panose="02000505000000020004" charset="0"/>
                          <a:cs typeface="Sitka Display" panose="02000505000000020004" charset="0"/>
                        </a:rPr>
                        <a:t>Project hosting</a:t>
                      </a:r>
                      <a:endParaRPr sz="1200">
                        <a:latin typeface="Sitka Display" panose="02000505000000020004" charset="0"/>
                        <a:cs typeface="Sitka Display" panose="020005050000000200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829310" y="5084445"/>
            <a:ext cx="10659110" cy="1233805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 altLang="en-US" b="1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</a:rPr>
              <a:t>The project successfully demonstrates the application of AI and NLP in utility meter testing operations for intelligent department routing. </a:t>
            </a:r>
            <a:endParaRPr lang="en-US" altLang="en-US" b="1">
              <a:solidFill>
                <a:srgbClr val="FF0000"/>
              </a:solidFill>
              <a:latin typeface="Sitka Display" panose="02000505000000020004" charset="0"/>
              <a:cs typeface="Sitka Display" panose="02000505000000020004" charset="0"/>
            </a:endParaRPr>
          </a:p>
          <a:p>
            <a:r>
              <a:rPr lang="en-US" altLang="en-US" b="1">
                <a:solidFill>
                  <a:srgbClr val="FF0000"/>
                </a:solidFill>
                <a:latin typeface="Sitka Display" panose="02000505000000020004" charset="0"/>
                <a:cs typeface="Sitka Display" panose="02000505000000020004" charset="0"/>
              </a:rPr>
              <a:t>The developed system reduces manual effort, improves routing efficiency, and supports smart utility automation using ANN, SVM, and Logistic Regression models.</a:t>
            </a:r>
            <a:endParaRPr lang="en-US" altLang="en-US" b="1">
              <a:solidFill>
                <a:srgbClr val="FF0000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15595" y="262890"/>
            <a:ext cx="11180445" cy="720090"/>
          </a:xfrm>
        </p:spPr>
        <p:txBody>
          <a:bodyPr/>
          <a:p>
            <a:r>
              <a:rPr lang="en-US">
                <a:latin typeface="Sitka Heading" panose="02000505000000020004" charset="0"/>
                <a:cs typeface="Sitka Heading" panose="02000505000000020004" charset="0"/>
              </a:rPr>
              <a:t>Preview of GitHub Repository:</a:t>
            </a:r>
            <a:endParaRPr lang="en-US">
              <a:latin typeface="Sitka Heading" panose="02000505000000020004" charset="0"/>
              <a:cs typeface="Sitka Heading" panose="020005050000000200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1345" y="1014730"/>
            <a:ext cx="11038840" cy="52603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 Placeholder 8"/>
          <p:cNvSpPr>
            <a:spLocks noGrp="1"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en-US"/>
            </a:defPPr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0" i="0" u="none" strike="noStrike" kern="1200" cap="none" spc="0" normalizeH="0" baseline="0" noProof="1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fld id="{2660C17A-1D3B-4747-8E76-739B3EB99950}" type="datetime1">
              <a:rPr lang="en-IN" smtClean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</a:fld>
            <a:endParaRPr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F62C7C-9FA6-4436-90F7-C7370BED1EB3}" type="slidenum">
              <a:rPr lang="en-US" smtClean="0">
                <a:latin typeface="Sitka Display" panose="02000505000000020004" charset="0"/>
                <a:cs typeface="Sitka Display" panose="02000505000000020004" charset="0"/>
              </a:rPr>
            </a:fld>
            <a:endParaRPr lang="en-US">
              <a:latin typeface="Sitka Display" panose="02000505000000020004" charset="0"/>
              <a:cs typeface="Sitka Display" panose="020005050000000200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386455" y="6356350"/>
            <a:ext cx="54686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en-US" sz="1400">
                <a:latin typeface="Sitka Display" panose="02000505000000020004" charset="0"/>
                <a:cs typeface="Sitka Display" panose="02000505000000020004" charset="0"/>
                <a:sym typeface="+mn-ea"/>
                <a:hlinkClick r:id="rId5" action="ppaction://hlinkfile"/>
              </a:rPr>
              <a:t>https://github.com/shubham300701/AI-Meter-Remark-Classification.git</a:t>
            </a:r>
            <a:endParaRPr lang="en-US" altLang="en-US" sz="1400">
              <a:latin typeface="Sitka Display" panose="02000505000000020004" charset="0"/>
              <a:cs typeface="Sitka Display" panose="02000505000000020004" charset="0"/>
              <a:sym typeface="+mn-ea"/>
              <a:hlinkClick r:id="rId5" action="ppaction://hlinkfi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Sitka Display" panose="02000505000000020004" charset="0"/>
                <a:ea typeface="+mj-ea"/>
                <a:cs typeface="Sitka Display" panose="02000505000000020004" charset="0"/>
              </a:rPr>
              <a:t>THANKS</a:t>
            </a:r>
            <a:endParaRPr lang="en-US" dirty="0">
              <a:solidFill>
                <a:schemeClr val="tx1"/>
              </a:solidFill>
              <a:latin typeface="Sitka Display" panose="02000505000000020004" charset="0"/>
              <a:ea typeface="+mj-ea"/>
              <a:cs typeface="Sitka Display" panose="02000505000000020004" charset="0"/>
            </a:endParaRPr>
          </a:p>
        </p:txBody>
      </p:sp>
      <p:sp>
        <p:nvSpPr>
          <p:cNvPr id="13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Sitka Display" panose="02000505000000020004" charset="0"/>
                <a:cs typeface="Sitka Display" panose="02000505000000020004" charset="0"/>
              </a:rPr>
              <a:t>We are open for questions.</a:t>
            </a:r>
            <a:endParaRPr lang="en-US" altLang="en-US" dirty="0">
              <a:solidFill>
                <a:schemeClr val="tx1"/>
              </a:solidFill>
              <a:latin typeface="Sitka Display" panose="02000505000000020004" charset="0"/>
              <a:cs typeface="Sitka Display" panose="020005050000000200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68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6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0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7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7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73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7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7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7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9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80.xml><?xml version="1.0" encoding="utf-8"?>
<p:tagLst xmlns:p="http://schemas.openxmlformats.org/presentationml/2006/main">
  <p:tag name="KSO_WM_SLIDE_TYPE" val="text"/>
  <p:tag name="KSO_WM_BEAUTIFY_FLAG" val="#wm#"/>
  <p:tag name="KSO_WM_SLIDE_THEME_ID" val="3321262"/>
  <p:tag name="KSO_WM_SLIDE_THEME_NAME" val="White Minimalist"/>
</p:tagLst>
</file>

<file path=ppt/tags/tag81.xml><?xml version="1.0" encoding="utf-8"?>
<p:tagLst xmlns:p="http://schemas.openxmlformats.org/presentationml/2006/main">
  <p:tag name="KSO_WM_UNIT_TEXT" val="Table of Contents:"/>
</p:tagLst>
</file>

<file path=ppt/tags/tag82.xml><?xml version="1.0" encoding="utf-8"?>
<p:tagLst xmlns:p="http://schemas.openxmlformats.org/presentationml/2006/main">
  <p:tag name="KSO_WM_UNIT_SUBTYPE" val="a"/>
  <p:tag name="KSO_WM_TEMPLATE_CATEGORY" val="diagram"/>
  <p:tag name="KSO_WM_TEMPLATE_INDEX" val="19882029"/>
  <p:tag name="KSO_WM_UNIT_ID" val="diagram19882029*l_h_f*1_7_1"/>
  <p:tag name="KSO_WM_DIAGRAM_GROUP_CODE" val="l1-1"/>
  <p:tag name="KSO_WM_TAG_VERSION" val="2.0"/>
  <p:tag name="KSO_WM_DIAGRAM_VIRTUALLY_FRAME" val="{&quot;height&quot;:342.62503937007875,&quot;left&quot;:66,&quot;top&quot;:143.75,&quot;width&quot;:828}"/>
</p:tagLst>
</file>

<file path=ppt/tags/tag8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85.xml><?xml version="1.0" encoding="utf-8"?>
<p:tagLst xmlns:p="http://schemas.openxmlformats.org/presentationml/2006/main">
  <p:tag name="KSO_WM_SLIDE_TYPE" val="contents"/>
  <p:tag name="KSO_WM_BEAUTIFY_FLAG" val="#wm#"/>
</p:tagLst>
</file>

<file path=ppt/tags/tag86.xml><?xml version="1.0" encoding="utf-8"?>
<p:tagLst xmlns:p="http://schemas.openxmlformats.org/presentationml/2006/main">
  <p:tag name="KSO_WM_UNIT_SUBTYPE" val="a"/>
</p:tagLst>
</file>

<file path=ppt/tags/tag8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88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UNIT_TEXT" val="Visvesvaraya National Institute of Technology, Nagpur&#13;Electronics and Communication Engineering Depart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1.xml><?xml version="1.0" encoding="utf-8"?>
<p:tagLst xmlns:p="http://schemas.openxmlformats.org/presentationml/2006/main">
  <p:tag name="KSO_WM_SLIDE_TYPE" val="text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96.xml><?xml version="1.0" encoding="utf-8"?>
<p:tagLst xmlns:p="http://schemas.openxmlformats.org/presentationml/2006/main">
  <p:tag name="TABLE_ENDDRAG_ORIGIN_RECT" val="546*232"/>
  <p:tag name="TABLE_ENDDRAG_RECT" val="372*67*546*232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01.xml><?xml version="1.0" encoding="utf-8"?>
<p:tagLst xmlns:p="http://schemas.openxmlformats.org/presentationml/2006/main">
  <p:tag name="TABLE_ENDDRAG_ORIGIN_RECT" val="456*112"/>
  <p:tag name="TABLE_ENDDRAG_RECT" val="474*60*456*112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0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0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TABLE_ENDDRAG_ORIGIN_RECT" val="406*227"/>
  <p:tag name="TABLE_ENDDRAG_RECT" val="42*162*406*227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1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9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HANKS"/>
</p:tagLst>
</file>

<file path=ppt/tags/tag115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82_9*f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ext"/>
</p:tagLst>
</file>

<file path=ppt/tags/tag116.xml><?xml version="1.0" encoding="utf-8"?>
<p:tagLst xmlns:p="http://schemas.openxmlformats.org/presentationml/2006/main">
  <p:tag name="KSO_WM_SPECIAL_SOURCE" val="bdnull"/>
  <p:tag name="KSO_WM_SLIDE_ID" val="custom20233482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SLIDE_THEME_ID" val="3321262"/>
  <p:tag name="KSO_WM_SLIDE_THEME_NAME" val="Whit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7902</Words>
  <Application>WPS Presentation</Application>
  <PresentationFormat>Widescreen</PresentationFormat>
  <Paragraphs>432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Sitka Display</vt:lpstr>
      <vt:lpstr>Sitka Heading</vt:lpstr>
      <vt:lpstr>Wingdings</vt:lpstr>
      <vt:lpstr>Calibri</vt:lpstr>
      <vt:lpstr>Microsoft YaHei</vt:lpstr>
      <vt:lpstr>Arial Unicode MS</vt:lpstr>
      <vt:lpstr>Manrope ExtraBold</vt:lpstr>
      <vt:lpstr>Segoe Print</vt:lpstr>
      <vt:lpstr>Lato</vt:lpstr>
      <vt:lpstr>Calibri Light</vt:lpstr>
      <vt:lpstr>Office Theme</vt:lpstr>
      <vt:lpstr>1_Office Theme</vt:lpstr>
      <vt:lpstr>Electronics and Communication Engineering Department</vt:lpstr>
      <vt:lpstr>Contents </vt:lpstr>
      <vt:lpstr>Problem Statement</vt:lpstr>
      <vt:lpstr>Dataset Structure</vt:lpstr>
      <vt:lpstr>Results Obtained </vt:lpstr>
      <vt:lpstr>Contribution of Each Member</vt:lpstr>
      <vt:lpstr>**Tools &amp; Technologies used :</vt:lpstr>
      <vt:lpstr>**Tools &amp; Technologies used :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Pawar</dc:creator>
  <cp:lastModifiedBy>Shubham Saxena</cp:lastModifiedBy>
  <cp:revision>78</cp:revision>
  <dcterms:created xsi:type="dcterms:W3CDTF">2025-05-09T09:30:00Z</dcterms:created>
  <dcterms:modified xsi:type="dcterms:W3CDTF">2026-05-08T14:30:57Z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5619A37F2CB041C9BB438F2F4DDA6A9F_13</vt:lpwstr>
  </property>
  <property fmtid="{D5CDD505-2E9C-101B-9397-08002B2CF9AE}" pid="3" name="KSOProductBuildVer">
    <vt:lpwstr>1033-12.1.0.25242</vt:lpwstr>
  </property>
</Properties>
</file>