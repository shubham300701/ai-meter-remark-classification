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2"/>
  </p:notesMasterIdLst>
  <p:sldIdLst>
    <p:sldId id="256" r:id="rId4"/>
    <p:sldId id="257" r:id="rId5"/>
    <p:sldId id="279" r:id="rId6"/>
    <p:sldId id="285" r:id="rId7"/>
    <p:sldId id="284" r:id="rId8"/>
    <p:sldId id="264" r:id="rId9"/>
    <p:sldId id="287" r:id="rId10"/>
    <p:sldId id="280" r:id="rId11"/>
    <p:sldId id="281" r:id="rId13"/>
    <p:sldId id="282" r:id="rId14"/>
    <p:sldId id="288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bham Saxena" initials="authorId_61483700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>
                <a:latin typeface="Sitka Display" panose="02000505000000020004" charset="0"/>
                <a:cs typeface="Sitka Display" panose="02000505000000020004" charset="0"/>
                <a:sym typeface="+mn-ea"/>
              </a:rPr>
              <a:t>Key Advantage of TF-IDF Vectorization: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Assigns higher weights to important domain-specific words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Produces high-dimensional sparse feature vectors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Reduces influence of common but less meaningful terms</a:t>
            </a:r>
            <a:b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17A-1D3B-4747-8E76-739B3EB99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r>
              <a:rPr lang="en-US" dirty="0"/>
              <a:t>/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20" Type="http://schemas.openxmlformats.org/officeDocument/2006/relationships/tags" Target="../tags/tag66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</a:fld>
            <a:r>
              <a:rPr lang="en-US" dirty="0"/>
              <a:t>/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3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4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1.jpeg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5.jpeg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2265" y="164003"/>
            <a:ext cx="1026825" cy="1026825"/>
          </a:xfrm>
          <a:prstGeom prst="rect">
            <a:avLst/>
          </a:prstGeom>
        </p:spPr>
      </p:pic>
      <p:cxnSp>
        <p:nvCxnSpPr>
          <p:cNvPr id="7" name="Straight Connector 6"/>
          <p:cNvCxnSpPr/>
          <p:nvPr>
            <p:custDataLst>
              <p:tags r:id="rId3"/>
            </p:custDataLst>
          </p:nvPr>
        </p:nvCxnSpPr>
        <p:spPr>
          <a:xfrm>
            <a:off x="399637" y="2052976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2101850" y="2121535"/>
            <a:ext cx="7890510" cy="1068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NATURAL LANGUAGE PROCESSING</a:t>
            </a:r>
            <a:endParaRPr lang="en-US" altLang="en-US" sz="4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4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LABORATORY (ECL-545)</a:t>
            </a:r>
            <a:endParaRPr lang="en-US" altLang="en-US" sz="4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247515" y="4186555"/>
            <a:ext cx="3598545" cy="1162685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Presented by-</a:t>
            </a:r>
            <a:endParaRPr lang="en-US" sz="14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Group No.-09</a:t>
            </a:r>
            <a:endParaRPr lang="en-US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Ishita Sood (MT24AAI165)</a:t>
            </a:r>
            <a:endParaRPr lang="en-US" sz="12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Shubham Saxena (MT24AAC034)</a:t>
            </a:r>
            <a:endParaRPr lang="en-US" altLang="en-US" sz="12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177030" y="5712460"/>
            <a:ext cx="3869690" cy="9067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Under the supervision of</a:t>
            </a:r>
            <a:endParaRPr lang="en-US" sz="14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20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Prof. Saugata Sinha</a:t>
            </a:r>
            <a:endParaRPr lang="en-US" altLang="en-US" sz="20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VNIT Nagpur</a:t>
            </a:r>
            <a:endParaRPr lang="en-US" sz="20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Date Placeholder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DD5500-71C4-4001-8F33-8C22722166F3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IN" dirty="0" smtClean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2" name="Slide Number Placeholder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US" dirty="0" smtClean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9"/>
            </p:custDataLst>
          </p:nvPr>
        </p:nvSpPr>
        <p:spPr>
          <a:xfrm>
            <a:off x="2999867" y="1036678"/>
            <a:ext cx="6094476" cy="10147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Executive </a:t>
            </a:r>
            <a:r>
              <a:rPr lang="en-US" sz="2000" dirty="0" err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M.Tech</a:t>
            </a:r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. in Applied AI &amp; Communication</a:t>
            </a:r>
            <a:endParaRPr lang="en-US" sz="2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Cohort- 3A &amp; 3B, Sem-3</a:t>
            </a:r>
            <a:endParaRPr lang="en-US" sz="2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Eval. 1 (05/04/2026)</a:t>
            </a:r>
            <a:endParaRPr lang="en-US" sz="2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2643505" y="317500"/>
            <a:ext cx="8698865" cy="720090"/>
          </a:xfrm>
        </p:spPr>
        <p:txBody>
          <a:bodyPr vert="horz" wrap="square" lIns="0" tIns="0" rIns="0" bIns="0" rtlCol="0" anchor="b">
            <a:normAutofit fontScale="90000"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665" dirty="0">
                <a:solidFill>
                  <a:schemeClr val="tx1"/>
                </a:solidFill>
                <a:latin typeface="Sitka Heading" panose="02000505000000020004" charset="0"/>
                <a:ea typeface="+mj-ea"/>
                <a:cs typeface="Sitka Heading" panose="02000505000000020004" charset="0"/>
                <a:sym typeface="+mn-ea"/>
              </a:rPr>
              <a:t>Visvesvaraya National Institute of Technology, Nagpur</a:t>
            </a:r>
            <a:endParaRPr lang="en-US" sz="2665" dirty="0">
              <a:solidFill>
                <a:schemeClr val="tx1"/>
              </a:solidFill>
              <a:latin typeface="Sitka Heading" panose="02000505000000020004" charset="0"/>
              <a:ea typeface="+mj-ea"/>
              <a:cs typeface="Sitka Heading" panose="0200050500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2665" dirty="0">
                <a:solidFill>
                  <a:schemeClr val="tx1"/>
                </a:solidFill>
                <a:latin typeface="Sitka Heading" panose="02000505000000020004" charset="0"/>
                <a:ea typeface="+mj-ea"/>
                <a:cs typeface="Sitka Heading" panose="02000505000000020004" charset="0"/>
                <a:sym typeface="+mn-ea"/>
              </a:rPr>
              <a:t>Electronics and Communication Engineering Department</a:t>
            </a:r>
            <a:endParaRPr lang="en-US" sz="2665" dirty="0">
              <a:solidFill>
                <a:schemeClr val="tx1"/>
              </a:solidFill>
              <a:latin typeface="Sitka Heading" panose="02000505000000020004" charset="0"/>
              <a:ea typeface="+mj-ea"/>
              <a:cs typeface="Sitka Heading" panose="02000505000000020004" charset="0"/>
              <a:sym typeface="+mn-ea"/>
            </a:endParaRPr>
          </a:p>
        </p:txBody>
      </p:sp>
      <p:cxnSp>
        <p:nvCxnSpPr>
          <p:cNvPr id="19" name="Straight Connector 18"/>
          <p:cNvCxnSpPr/>
          <p:nvPr>
            <p:custDataLst>
              <p:tags r:id="rId11"/>
            </p:custDataLst>
          </p:nvPr>
        </p:nvCxnSpPr>
        <p:spPr>
          <a:xfrm>
            <a:off x="2263362" y="3431561"/>
            <a:ext cx="7668895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>
            <p:custDataLst>
              <p:tags r:id="rId12"/>
            </p:custDataLst>
          </p:nvPr>
        </p:nvCxnSpPr>
        <p:spPr>
          <a:xfrm>
            <a:off x="2291937" y="4114186"/>
            <a:ext cx="7639685" cy="3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7"/>
          <p:cNvSpPr txBox="1"/>
          <p:nvPr>
            <p:custDataLst>
              <p:tags r:id="rId13"/>
            </p:custDataLst>
          </p:nvPr>
        </p:nvSpPr>
        <p:spPr>
          <a:xfrm>
            <a:off x="2472690" y="3559810"/>
            <a:ext cx="7245985" cy="490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8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Automated Analysis of Meter Testing Remarks</a:t>
            </a:r>
            <a:endParaRPr lang="en-US" altLang="en-US" sz="28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cxnSp>
        <p:nvCxnSpPr>
          <p:cNvPr id="23" name="Straight Connector 22"/>
          <p:cNvCxnSpPr/>
          <p:nvPr>
            <p:custDataLst>
              <p:tags r:id="rId14"/>
            </p:custDataLst>
          </p:nvPr>
        </p:nvCxnSpPr>
        <p:spPr>
          <a:xfrm flipV="1">
            <a:off x="4298537" y="5480071"/>
            <a:ext cx="3598545" cy="6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>
          <a:xfrm>
            <a:off x="838200" y="374015"/>
            <a:ext cx="10515600" cy="915035"/>
          </a:xfrm>
        </p:spPr>
        <p:txBody>
          <a:bodyPr/>
          <a:p>
            <a:r>
              <a:rPr lang="en-US">
                <a:latin typeface="Sitka Heading" panose="02000505000000020004" charset="0"/>
                <a:ea typeface="+mj-ea"/>
                <a:cs typeface="Sitka Heading" panose="02000505000000020004" charset="0"/>
              </a:rPr>
              <a:t>Contents </a:t>
            </a:r>
            <a:endParaRPr lang="en-US">
              <a:latin typeface="Sitka Heading" panose="02000505000000020004" charset="0"/>
              <a:ea typeface="+mj-ea"/>
              <a:cs typeface="Sitka Heading" panose="0200050500000002000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Sitka Display" panose="02000505000000020004" charset="0"/>
                <a:cs typeface="Sitka Display" panose="02000505000000020004" charset="0"/>
              </a:rPr>
              <a:t>Problem Statement &amp; Dataset</a:t>
            </a:r>
            <a:endParaRPr lang="en-US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b="1" dirty="0">
                <a:latin typeface="Sitka Display" panose="02000505000000020004" charset="0"/>
                <a:cs typeface="Sitka Display" panose="02000505000000020004" charset="0"/>
              </a:rPr>
              <a:t>Methodology and Algorithms</a:t>
            </a:r>
            <a:endParaRPr lang="en-US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b="1" dirty="0">
                <a:latin typeface="Sitka Display" panose="02000505000000020004" charset="0"/>
                <a:cs typeface="Sitka Display" panose="02000505000000020004" charset="0"/>
              </a:rPr>
              <a:t>Work Done till now</a:t>
            </a:r>
            <a:endParaRPr lang="en-US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b="1" dirty="0">
                <a:latin typeface="Sitka Display" panose="02000505000000020004" charset="0"/>
                <a:cs typeface="Sitka Display" panose="02000505000000020004" charset="0"/>
              </a:rPr>
              <a:t>Results Obtained till now</a:t>
            </a:r>
            <a:endParaRPr lang="en-US" altLang="en-US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b="1" dirty="0">
                <a:latin typeface="Sitka Display" panose="02000505000000020004" charset="0"/>
                <a:cs typeface="Sitka Display" panose="02000505000000020004" charset="0"/>
              </a:rPr>
              <a:t>Pending Work to do</a:t>
            </a:r>
            <a:endParaRPr lang="en-US" b="1" dirty="0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E0E4A5-9B2D-42E2-A09F-AFAF775BA73B}" type="datetime1">
              <a:rPr lang="en-IN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IN" smtClean="0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1346200" y="4055745"/>
            <a:ext cx="3996055" cy="28829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Content Placeholder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1185" y="1248410"/>
            <a:ext cx="4861560" cy="5107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q"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Problem Statement:</a:t>
            </a:r>
            <a:endParaRPr lang="en-US" altLang="en-US" sz="14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In utility meter testing operations, large volumes of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unstructured textual remarks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are generated daily. 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These remarks are written manually by field engineers and are: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/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Inconsistent in language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/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Unstructured in format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/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Difficult to analyze at scale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This leads to delays and errors in assigning correct action categories and departments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  <a:sym typeface="+mn-ea"/>
              </a:rPr>
              <a:t>Objective of the Project: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sz="14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To develop an </a:t>
            </a: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NLP-based classification model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that: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Automatically analyzes meter testing remarks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Predicts correct </a:t>
            </a: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Action Target / Category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Enables faster, consistent decision-making in utility workflows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Date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IN" smtClean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US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50520" y="434340"/>
            <a:ext cx="11252835" cy="72009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>
                <a:latin typeface="Sitka Heading" panose="02000505000000020004" charset="0"/>
                <a:ea typeface="+mj-ea"/>
                <a:cs typeface="Sitka Heading" panose="02000505000000020004" charset="0"/>
                <a:sym typeface="+mn-ea"/>
              </a:rPr>
              <a:t>Problem Statement &amp; Dataset</a:t>
            </a:r>
            <a:endParaRPr lang="en-US" dirty="0">
              <a:solidFill>
                <a:schemeClr val="tx1"/>
              </a:solidFill>
              <a:latin typeface="Sitka Heading" panose="02000505000000020004" charset="0"/>
              <a:ea typeface="+mj-ea"/>
              <a:cs typeface="Sitka Heading" panose="02000505000000020004" charset="0"/>
              <a:sym typeface="+mn-ea"/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5811520" y="1249045"/>
            <a:ext cx="5485765" cy="500126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Train-Test Dataset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Dataset Description: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Source: Real-time utility meter testing records (1-year data for Training and 3 Months data for Testing) 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Total Dataset Size: ~</a:t>
            </a: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15,000 manually entered remarks 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Original Dataset Structure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221 total columns available in raw dataset (150+ MB in size)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Selected Relevant Columns (Final Use Case)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We filtered and used only: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Serial Number → Reference ID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Text Remarks → Input Feature (NLP Text)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Hold Cancel Reason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Hold Cancel Remarks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Current Status → Target-related information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28980" y="4495165"/>
            <a:ext cx="4535170" cy="3003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Meter Testing Remarks → Standard Action Categories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6" name="Content Placeholder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3390" y="1240790"/>
            <a:ext cx="4999355" cy="5029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altLang="en-US" sz="1400" b="1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  <a:sym typeface="+mn-ea"/>
              </a:rPr>
              <a:t>Output Labels (Action Categories)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We mapped remarks into structured classes: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TESTED_OK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No further action required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INSTALLATION_REPLACEMENT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Meter replacement required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CEG_ANALYSIS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Seal / technical investigation cases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ZONE_RECTIFICATION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Network / voltage issues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SITE_NOT_READY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Access / safety issues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ADMIN_CLOSURE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Administrative closure cases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CUSTOMER_DEPENDENT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Customer unavailable / refusal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VISIT_REQUIRED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→ Revisit or rescheduling required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  <a:sym typeface="+mn-ea"/>
              </a:rPr>
              <a:t>Key Insight: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Dataset converts: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  </a:t>
            </a:r>
            <a:r>
              <a:rPr lang="en-US" altLang="en-US" sz="1400" b="1">
                <a:highlight>
                  <a:srgbClr val="FFFF00"/>
                </a:highlight>
                <a:latin typeface="Sitka Display" panose="02000505000000020004" charset="0"/>
                <a:cs typeface="Sitka Display" panose="02000505000000020004" charset="0"/>
                <a:sym typeface="+mn-ea"/>
              </a:rPr>
              <a:t>field-level textual remarks → structured operational decisions.</a:t>
            </a:r>
            <a:endParaRPr lang="en-US" altLang="en-US" sz="1400" b="1">
              <a:highlight>
                <a:srgbClr val="FFFF00"/>
              </a:highlight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6" grpId="0" bldLvl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latin typeface="Sitka Display" panose="02000505000000020004" charset="0"/>
                <a:cs typeface="Sitka Display" panose="02000505000000020004" charset="0"/>
              </a:rPr>
              <a:t>Results Obtained</a:t>
            </a:r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40790"/>
            <a:ext cx="4429125" cy="5030470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1600" b="1" u="sng">
                <a:latin typeface="Sitka Display" panose="02000505000000020004" charset="0"/>
                <a:cs typeface="Sitka Display" panose="02000505000000020004" charset="0"/>
              </a:rPr>
              <a:t>[Step-1] Model Development</a:t>
            </a:r>
            <a:endParaRPr lang="en-US" altLang="en-US" sz="1600" b="1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600" b="1">
                <a:latin typeface="Sitka Display" panose="02000505000000020004" charset="0"/>
                <a:cs typeface="Sitka Display" panose="02000505000000020004" charset="0"/>
              </a:rPr>
              <a:t>K</a:t>
            </a:r>
            <a:r>
              <a:rPr lang="en-US" altLang="en-US" sz="16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ey Insights:</a:t>
            </a:r>
            <a:endParaRPr lang="en-US" altLang="en-US" sz="16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Generated </a:t>
            </a:r>
            <a:r>
              <a:rPr lang="en-US" altLang="en-US" sz="12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1048 unique textual features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using TF-IDF vectorization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endParaRPr lang="en-US" altLang="en-US" sz="1600" b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4/1/2026</a:t>
            </a:r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 smtClean="0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93130" y="1079500"/>
            <a:ext cx="5664200" cy="5095875"/>
          </a:xfrm>
          <a:prstGeom prst="rect">
            <a:avLst/>
          </a:prstGeom>
        </p:spPr>
        <p:txBody>
          <a:bodyPr vert="horz" wrap="square" lIns="0" tIns="0" rIns="0" bIns="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latin typeface="Sitka Display" panose="02000505000000020004" charset="0"/>
                <a:cs typeface="Sitka Display" panose="02000505000000020004" charset="0"/>
              </a:rPr>
              <a:t>Pending Work To Do</a:t>
            </a:r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1750"/>
            <a:ext cx="5399405" cy="5349240"/>
          </a:xfrm>
          <a:prstGeom prst="rect">
            <a:avLst/>
          </a:prstGeom>
        </p:spPr>
        <p:txBody>
          <a:bodyPr vert="horz" wrap="square" lIns="0" tIns="0" rIns="0" bIns="0" rtlCol="0"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2105" lvl="1" indent="0">
              <a:lnSpc>
                <a:spcPct val="100000"/>
              </a:lnSpc>
              <a:buNone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4. Model Development &amp; Optimization: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Train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Logistic Regression model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on TF-IDF feature vectors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Perform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train-test split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and evaluate model performance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Use evaluation metrics: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26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Accuracy</a:t>
            </a:r>
            <a:endParaRPr lang="en-US" altLang="en-US" sz="126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Precision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Recall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F1-Score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Improve performance using: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Improve performance using: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Hyperparameter tuning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Feature refinement (e.g., n-grams)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>
              <a:lnSpc>
                <a:spcPct val="100000"/>
              </a:lnSpc>
              <a:buNone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marL="332105" lvl="1" indent="0">
              <a:lnSpc>
                <a:spcPct val="100000"/>
              </a:lnSpc>
              <a:buNone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5. System Integration &amp; Prediction Pipeline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Develop an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end-to-end prediction system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Integrate: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26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Text preprocessing</a:t>
            </a:r>
            <a:endParaRPr lang="en-US" altLang="en-US" sz="126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26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TF-IDF vectorization</a:t>
            </a:r>
            <a:endParaRPr lang="en-US" altLang="en-US" sz="126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26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Trained classification model</a:t>
            </a:r>
            <a:endParaRPr lang="en-US" altLang="en-US" sz="126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Enable system to: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26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Accept user remark as input</a:t>
            </a:r>
            <a:endParaRPr lang="en-US" altLang="en-US" sz="126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Predict concerned department in real-time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5365" y="1428750"/>
            <a:ext cx="5172075" cy="5349240"/>
          </a:xfrm>
          <a:prstGeom prst="rect">
            <a:avLst/>
          </a:prstGeom>
        </p:spPr>
        <p:txBody>
          <a:bodyPr vert="horz" wrap="square" lIns="0" tIns="0" rIns="0" bIns="0" rtlCol="0"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2105" lvl="1" indent="0">
              <a:lnSpc>
                <a:spcPct val="100000"/>
              </a:lnSpc>
              <a:buNone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6. Live Deployment &amp; User Testing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Deploy model on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live/new dataset of meter testing remarks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Process real-time user inputs through the trained system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Automatically classify remarks into respective departments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Enable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direct routing of actions without manual intervention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Validate system performance with real-world data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11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4/1/2026</a:t>
            </a:r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Sitka Display" panose="02000505000000020004" charset="0"/>
                <a:ea typeface="+mj-ea"/>
                <a:cs typeface="Sitka Display" panose="02000505000000020004" charset="0"/>
              </a:rPr>
              <a:t>THANKS</a:t>
            </a:r>
            <a:endParaRPr lang="en-US" dirty="0">
              <a:solidFill>
                <a:schemeClr val="tx1"/>
              </a:solidFill>
              <a:latin typeface="Sitka Display" panose="02000505000000020004" charset="0"/>
              <a:ea typeface="+mj-ea"/>
              <a:cs typeface="Sitka Display" panose="02000505000000020004" charset="0"/>
            </a:endParaRPr>
          </a:p>
        </p:txBody>
      </p:sp>
      <p:sp>
        <p:nvSpPr>
          <p:cNvPr id="13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We are open for questions.</a:t>
            </a:r>
            <a:endParaRPr lang="en-US" altLang="en-US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5595" y="360045"/>
            <a:ext cx="11180445" cy="720090"/>
          </a:xfrm>
        </p:spPr>
        <p:txBody>
          <a:bodyPr/>
          <a:p>
            <a:r>
              <a:rPr lang="en-US">
                <a:latin typeface="Sitka Heading" panose="02000505000000020004" charset="0"/>
                <a:cs typeface="Sitka Heading" panose="02000505000000020004" charset="0"/>
              </a:rPr>
              <a:t>Methodology and Algorithms</a:t>
            </a:r>
            <a:endParaRPr lang="en-US">
              <a:latin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15595" y="1301750"/>
            <a:ext cx="5780405" cy="5240655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200" b="1" u="sng">
                <a:latin typeface="Sitka Display" panose="02000505000000020004" charset="0"/>
                <a:cs typeface="Sitka Display" panose="02000505000000020004" charset="0"/>
              </a:rPr>
              <a:t>Problem Formulation:</a:t>
            </a:r>
            <a:r>
              <a:rPr lang="en-US" altLang="en-US" sz="1200" b="1">
                <a:latin typeface="Sitka Display" panose="02000505000000020004" charset="0"/>
                <a:cs typeface="Sitka Display" panose="02000505000000020004" charset="0"/>
              </a:rPr>
              <a:t> </a:t>
            </a:r>
            <a:endParaRPr lang="en-US" altLang="en-US" sz="1200" b="1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80000"/>
              </a:lnSpc>
              <a:buNone/>
            </a:pPr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</a:rPr>
              <a:t>The task is formulated as a </a:t>
            </a:r>
            <a:r>
              <a:rPr lang="en-US" altLang="en-US" sz="1200" b="1" i="1" u="sng">
                <a:latin typeface="Sitka Display" panose="02000505000000020004" charset="0"/>
                <a:cs typeface="Sitka Display" panose="02000505000000020004" charset="0"/>
              </a:rPr>
              <a:t>Supervised Multi-Class Text Classification Problem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80000"/>
              </a:lnSpc>
              <a:buNone/>
            </a:pPr>
            <a:r>
              <a:rPr lang="en-US" altLang="en-US" sz="1200" b="1" i="1">
                <a:solidFill>
                  <a:schemeClr val="tx1"/>
                </a:solidFill>
                <a:highlight>
                  <a:srgbClr val="FFFF00"/>
                </a:highlight>
                <a:latin typeface="Sitka Display" panose="02000505000000020004" charset="0"/>
                <a:cs typeface="Sitka Display" panose="02000505000000020004" charset="0"/>
              </a:rPr>
              <a:t>Map unstructured meter testing remarks → predefined department/action classes</a:t>
            </a:r>
            <a:endParaRPr lang="en-US" altLang="en-US" sz="1200" b="1" i="1"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200" b="1" u="sng">
                <a:latin typeface="Sitka Display" panose="02000505000000020004" charset="0"/>
                <a:cs typeface="Sitka Display" panose="02000505000000020004" charset="0"/>
              </a:rPr>
              <a:t>Project Pipeline:</a:t>
            </a:r>
            <a:endParaRPr lang="en-US" altLang="en-US" sz="12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endParaRPr lang="en-US" altLang="en-US" sz="12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endParaRPr lang="en-US" altLang="en-US" sz="12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endParaRPr lang="en-US" altLang="en-US" sz="12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endParaRPr lang="en-US" altLang="en-US" sz="12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0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Text Preprocessing Techniques:</a:t>
            </a:r>
            <a:r>
              <a:rPr lang="en-US" altLang="en-US" sz="10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</a:t>
            </a:r>
            <a:endParaRPr lang="en-US" altLang="en-US" sz="10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To transform raw text into a clean, standardized corpus for feature extraction. We </a:t>
            </a: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applied standard NLP normalization to reduce noise and improve feature quality: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 fontAlgn="auto">
              <a:lnSpc>
                <a:spcPct val="70000"/>
              </a:lnSpc>
              <a:spcBef>
                <a:spcPts val="600"/>
              </a:spcBef>
            </a:pPr>
            <a:r>
              <a:rPr lang="en-US" altLang="en-US" sz="1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Case Normalization</a:t>
            </a: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→ Lowercasing for uniformity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 fontAlgn="auto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Noise Removal</a:t>
            </a: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→ Elimination of punctuation, digits, and special characters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 fontAlgn="auto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Stopword Removal</a:t>
            </a: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→ Removal of high-frequency non-informative tokens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 fontAlgn="auto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Tokenization</a:t>
            </a: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→ Conversion of text into individual lexical units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 fontAlgn="auto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10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10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Feature Engineering: TF-IDF Vectorization</a:t>
            </a:r>
            <a:r>
              <a:rPr lang="en-US" altLang="en-US" sz="10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: </a:t>
            </a:r>
            <a:endParaRPr lang="en-US" altLang="en-US" sz="10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marL="332105" lvl="1" indent="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Used </a:t>
            </a:r>
            <a:r>
              <a:rPr lang="en-US" altLang="en-US" sz="1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Term Frequency-Inverse Document Frequency</a:t>
            </a: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for feature representation. Mathematically,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1000" b="1" i="1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marL="457200" lvl="1" indent="457200" algn="l">
              <a:lnSpc>
                <a:spcPct val="90000"/>
              </a:lnSpc>
              <a:buNone/>
            </a:pP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where: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3">
              <a:lnSpc>
                <a:spcPct val="100000"/>
              </a:lnSpc>
            </a:pP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TF(t,d): Term frequency in document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3">
              <a:lnSpc>
                <a:spcPct val="100000"/>
              </a:lnSpc>
            </a:pP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DF(t): Document frequency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3">
              <a:lnSpc>
                <a:spcPct val="100000"/>
              </a:lnSpc>
            </a:pPr>
            <a:r>
              <a:rPr lang="en-US" altLang="en-US" sz="1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N: Total number of documents</a:t>
            </a:r>
            <a:endParaRPr lang="en-US" altLang="en-US" sz="1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108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1080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108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53835" y="1304925"/>
            <a:ext cx="5116830" cy="5191125"/>
          </a:xfrm>
          <a:prstGeom prst="rect">
            <a:avLst/>
          </a:prstGeom>
        </p:spPr>
        <p:txBody>
          <a:bodyPr vert="horz" wrap="square" lIns="0" tIns="0" rIns="0" bIns="0" rtlCol="0">
            <a:normAutofit fontScale="25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40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Model Selection: Logistic Regression:</a:t>
            </a:r>
            <a:endParaRPr lang="en-US" altLang="en-US" sz="40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457200">
              <a:lnSpc>
                <a:spcPct val="100000"/>
              </a:lnSpc>
              <a:buNone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Used </a:t>
            </a:r>
            <a:r>
              <a:rPr lang="en-US" altLang="en-US" sz="4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Logistic Regression for classification</a:t>
            </a: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. Estimates probability using Sigmoid Function: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457200">
              <a:lnSpc>
                <a:spcPct val="100000"/>
              </a:lnSpc>
              <a:buNone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Extended using Softmax Function for multi-class classification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457200">
              <a:lnSpc>
                <a:spcPct val="100000"/>
              </a:lnSpc>
              <a:buNone/>
            </a:pPr>
            <a:r>
              <a:rPr lang="en-US" altLang="en-US" sz="4000" b="1">
                <a:latin typeface="Sitka Display" panose="02000505000000020004" charset="0"/>
                <a:cs typeface="Sitka Display" panose="02000505000000020004" charset="0"/>
              </a:rPr>
              <a:t>Reason why Logistic Regression is Choosed?</a:t>
            </a:r>
            <a:endParaRPr lang="en-US" altLang="en-US" sz="4000" b="1"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3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Efficient for high-dimensional sparse data (TF-IDF vectors)</a:t>
            </a:r>
            <a:endParaRPr lang="en-US" altLang="en-US" sz="3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3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Performs well in linear decision boundary problems</a:t>
            </a:r>
            <a:endParaRPr lang="en-US" altLang="en-US" sz="3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3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Computationally efficient and scalable</a:t>
            </a:r>
            <a:endParaRPr lang="en-US" altLang="en-US" sz="3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3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Provides probabilistic outputs for class prediction</a:t>
            </a:r>
            <a:endParaRPr lang="en-US" altLang="en-US" sz="3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endParaRPr lang="en-US" altLang="en-US" sz="4665"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40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Model Training Strategy:</a:t>
            </a:r>
            <a:endParaRPr lang="en-US" altLang="en-US" sz="40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Dataset split into: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 sz="36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Training Set (80%)</a:t>
            </a:r>
            <a:endParaRPr lang="en-US" altLang="en-US" sz="36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Testing Set (20%)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Optimization using </a:t>
            </a:r>
            <a:r>
              <a:rPr lang="en-US" altLang="en-US" sz="4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Maximum Likelihood Estimation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Model Training will be Evaluated using: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Accuracy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Precision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Recall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F1-Score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636905" lvl="2" indent="0">
              <a:lnSpc>
                <a:spcPct val="100000"/>
              </a:lnSpc>
              <a:buNone/>
            </a:pP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40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Prediction &amp; Decision Routing:</a:t>
            </a:r>
            <a:endParaRPr lang="en-US" altLang="en-US" sz="40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      Predicted class corresponds to: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Concerned Department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Further mapped to Actionable Workflow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636905" lvl="2" indent="0">
              <a:lnSpc>
                <a:spcPct val="100000"/>
              </a:lnSpc>
              <a:buNone/>
            </a:pP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40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Live Deployment &amp; User Testing:</a:t>
            </a:r>
            <a:endParaRPr lang="en-US" altLang="en-US" sz="40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After achieving satisfactory performance during model training and testing, the system is deployed on a </a:t>
            </a:r>
            <a:r>
              <a:rPr lang="en-US" altLang="en-US" sz="4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new/live dataset of meter testing remarks</a:t>
            </a: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.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The trained model processes real-time user inputs and automatically classifies remarks into the appropriate department, enabling </a:t>
            </a:r>
            <a:r>
              <a:rPr lang="en-US" altLang="en-US" sz="40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direct routing without manual intervention</a:t>
            </a:r>
            <a:r>
              <a:rPr lang="en-US" altLang="en-US" sz="40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.</a:t>
            </a: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7205" y="2529205"/>
            <a:ext cx="1117600" cy="3079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000" b="1" i="1">
                <a:latin typeface="Sitka Display" panose="02000505000000020004" charset="0"/>
                <a:cs typeface="Sitka Display" panose="02000505000000020004" charset="0"/>
              </a:rPr>
              <a:t>Raw Text Data</a:t>
            </a:r>
            <a:endParaRPr lang="en-US" sz="1000" b="1" i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78635" y="2530475"/>
            <a:ext cx="1389380" cy="314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000" b="1" i="1">
                <a:latin typeface="Sitka Display" panose="02000505000000020004" charset="0"/>
                <a:cs typeface="Sitka Display" panose="02000505000000020004" charset="0"/>
              </a:rPr>
              <a:t>Text Preprocessing</a:t>
            </a:r>
            <a:endParaRPr lang="en-US" sz="1000" b="1" i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36925" y="2521585"/>
            <a:ext cx="1971040" cy="3155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US" sz="1000" b="1" i="1">
                <a:latin typeface="Sitka Display" panose="02000505000000020004" charset="0"/>
                <a:cs typeface="Sitka Display" panose="02000505000000020004" charset="0"/>
                <a:sym typeface="+mn-ea"/>
              </a:rPr>
              <a:t>Feature Extraction (TF-IDF)</a:t>
            </a:r>
            <a:r>
              <a:rPr lang="en-US" sz="1000" b="1" i="1">
                <a:latin typeface="Sitka Display" panose="02000505000000020004" charset="0"/>
                <a:cs typeface="Sitka Display" panose="02000505000000020004" charset="0"/>
              </a:rPr>
              <a:t> </a:t>
            </a:r>
            <a:endParaRPr lang="en-US" sz="1000" b="1" i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16225" y="3027680"/>
            <a:ext cx="2489200" cy="3155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000" b="1" i="1">
                <a:latin typeface="Sitka Display" panose="02000505000000020004" charset="0"/>
                <a:cs typeface="Sitka Display" panose="02000505000000020004" charset="0"/>
              </a:rPr>
              <a:t>Model Training (Logistic Regression)</a:t>
            </a:r>
            <a:endParaRPr lang="en-US" sz="1000" b="1" i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9430" y="3027680"/>
            <a:ext cx="2127250" cy="3079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000" b="1" i="1">
                <a:latin typeface="Sitka Display" panose="02000505000000020004" charset="0"/>
                <a:cs typeface="Sitka Display" panose="02000505000000020004" charset="0"/>
              </a:rPr>
              <a:t>Prediction &amp; Descision Routing </a:t>
            </a:r>
            <a:endParaRPr lang="en-US" sz="1000" b="1" i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1612265" y="2620645"/>
            <a:ext cx="159385" cy="13335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3166745" y="2613025"/>
            <a:ext cx="159385" cy="13335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0800000">
            <a:off x="2655570" y="3112770"/>
            <a:ext cx="159385" cy="13335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r"/>
            <a:endParaRPr lang="en-US"/>
          </a:p>
        </p:txBody>
      </p:sp>
      <p:sp>
        <p:nvSpPr>
          <p:cNvPr id="24" name="Curved Down Arrow 23"/>
          <p:cNvSpPr/>
          <p:nvPr/>
        </p:nvSpPr>
        <p:spPr>
          <a:xfrm rot="5400000">
            <a:off x="5148580" y="2816860"/>
            <a:ext cx="597535" cy="274955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97510" y="2440940"/>
            <a:ext cx="5264785" cy="9956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014220" y="5441315"/>
            <a:ext cx="2382520" cy="1949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US" sz="1000" b="1" i="1">
                <a:latin typeface="Sitka Display" panose="02000505000000020004" charset="0"/>
                <a:cs typeface="Sitka Display" panose="02000505000000020004" charset="0"/>
                <a:sym typeface="+mn-ea"/>
              </a:rPr>
              <a:t>TF-IDF = TF(t,d) × log(N / DF(t))</a:t>
            </a:r>
            <a:endParaRPr lang="en-US" altLang="en-US" sz="1000" b="1" i="1"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5935" y="1830070"/>
            <a:ext cx="1739265" cy="1949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US" sz="1000" b="1" i="1">
                <a:latin typeface="Sitka Display" panose="02000505000000020004" charset="0"/>
                <a:cs typeface="Sitka Display" panose="02000505000000020004" charset="0"/>
                <a:sym typeface="+mn-ea"/>
              </a:rPr>
              <a:t>P(y) = 1 / (1 + e^(-z))</a:t>
            </a:r>
            <a:endParaRPr lang="en-US" altLang="en-US" sz="1000" b="1" i="1"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5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4/1/2026</a:t>
            </a:r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11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500"/>
                                        <p:tgtEl>
                                          <p:spTgt spid="11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1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11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14" grpId="1" animBg="1"/>
      <p:bldP spid="15" grpId="1" animBg="1"/>
      <p:bldP spid="16" grpId="1" animBg="1"/>
      <p:bldP spid="17" grpId="1" animBg="1"/>
      <p:bldP spid="18" grpId="1" animBg="1"/>
      <p:bldP spid="19" grpId="1" animBg="1"/>
      <p:bldP spid="20" grpId="1" animBg="1"/>
      <p:bldP spid="23" grpId="1" animBg="1"/>
      <p:bldP spid="24" grpId="1" animBg="1"/>
      <p:bldP spid="25" grpId="1" animBg="1"/>
      <p:bldP spid="27" grpId="0" bldLvl="0" animBg="1"/>
      <p:bldP spid="27" grpId="1" animBg="1"/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latin typeface="Sitka Display" panose="02000505000000020004" charset="0"/>
                <a:cs typeface="Sitka Display" panose="02000505000000020004" charset="0"/>
              </a:rPr>
              <a:t>Work Done till now</a:t>
            </a:r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146810"/>
            <a:ext cx="5138420" cy="5276215"/>
          </a:xfrm>
        </p:spPr>
        <p:txBody>
          <a:bodyPr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1. Dataset Preparation: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Collected and structured meter testing remarks dataset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Defined target classes corresponding to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concerned departments/actions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Ensured proper labeling for supervised learning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>
              <a:lnSpc>
                <a:spcPct val="100000"/>
              </a:lnSpc>
              <a:buNone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2. Text Preprocessing &amp; Cleaning: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Performed multiple NLP-based cleaning steps to improve data quality: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Converted text to </a:t>
            </a:r>
            <a:r>
              <a:rPr lang="en-US" altLang="en-US" sz="14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lowercase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for uniformity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Removed </a:t>
            </a:r>
            <a:r>
              <a:rPr lang="en-US" altLang="en-US" sz="14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punctuation, numbers, and unwanted symbols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.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Eliminate </a:t>
            </a:r>
            <a:r>
              <a:rPr lang="en-US" altLang="en-US" sz="14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noise patterns and irrelevant text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.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Applied </a:t>
            </a:r>
            <a:r>
              <a:rPr lang="en-US" altLang="en-US" sz="14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stopword removal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to discard non-informative words.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Performed </a:t>
            </a:r>
            <a:r>
              <a:rPr lang="en-US" altLang="en-US" sz="14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tokenization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to split text into meaningful units.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>
              <a:lnSpc>
                <a:spcPct val="100000"/>
              </a:lnSpc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3. Feature Engineering: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Implemented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Term Frequency-Inverse Document Frequency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(TF-IDF) </a:t>
            </a: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vectorization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Transformed textual data into </a:t>
            </a: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numerical feature vectors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Captured importance of domain-specific keywords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>
              <a:lnSpc>
                <a:spcPct val="100000"/>
              </a:lnSpc>
              <a:buNone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>
              <a:lnSpc>
                <a:spcPct val="100000"/>
              </a:lnSpc>
              <a:buNone/>
            </a:pP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635" y="1000760"/>
            <a:ext cx="5387975" cy="1231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 b="1" u="sng">
                <a:solidFill>
                  <a:schemeClr val="dk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STEP 1 — Cleaning + Lowercase (example)</a:t>
            </a:r>
            <a:endParaRPr sz="1400" b="1" u="sng">
              <a:solidFill>
                <a:schemeClr val="dk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08065" y="2372360"/>
            <a:ext cx="5387975" cy="151320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 b="1" u="sng">
                <a:solidFill>
                  <a:schemeClr val="dk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STEP 2 — </a:t>
            </a:r>
            <a:r>
              <a:rPr lang="en-US" sz="1400" b="1" u="sng">
                <a:solidFill>
                  <a:schemeClr val="dk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Tokenization + Stopword Removal (example)</a:t>
            </a:r>
            <a:endParaRPr lang="en-US" sz="1400" b="1" u="sng">
              <a:solidFill>
                <a:schemeClr val="dk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sz="1400" b="1" u="sng">
              <a:solidFill>
                <a:schemeClr val="dk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4890" y="4079875"/>
            <a:ext cx="5387975" cy="20948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 b="1" u="sng">
                <a:solidFill>
                  <a:schemeClr val="dk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STEP 3 — TF-IDF Vectorization (example)</a:t>
            </a:r>
            <a:endParaRPr lang="en-US" sz="1400" b="1" u="sng">
              <a:solidFill>
                <a:schemeClr val="dk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lang="en-US" sz="1400" b="1" u="sng">
              <a:solidFill>
                <a:schemeClr val="dk1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sz="1400" b="1" u="sng">
              <a:solidFill>
                <a:schemeClr val="dk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algn="ctr"/>
            <a:endParaRPr lang="en-US" sz="1400" u="sng"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  <p:sp>
        <p:nvSpPr>
          <p:cNvPr id="11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4/1/2026</a:t>
            </a:r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pic>
        <p:nvPicPr>
          <p:cNvPr id="629" name="Google Shape;629;p17"/>
          <p:cNvPicPr preferRelativeResize="0"/>
          <p:nvPr/>
        </p:nvPicPr>
        <p:blipFill rotWithShape="1">
          <a:blip r:embed="rId4"/>
          <a:srcRect t="65100" b="-335"/>
          <a:stretch>
            <a:fillRect/>
          </a:stretch>
        </p:blipFill>
        <p:spPr>
          <a:xfrm>
            <a:off x="6984365" y="1356995"/>
            <a:ext cx="3618865" cy="73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17"/>
          <p:cNvPicPr preferRelativeResize="0"/>
          <p:nvPr/>
        </p:nvPicPr>
        <p:blipFill rotWithShape="1">
          <a:blip r:embed="rId5"/>
          <a:srcRect t="42657" b="14578"/>
          <a:stretch>
            <a:fillRect/>
          </a:stretch>
        </p:blipFill>
        <p:spPr>
          <a:xfrm>
            <a:off x="6901815" y="2820670"/>
            <a:ext cx="3800475" cy="93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17"/>
          <p:cNvPicPr preferRelativeResize="0"/>
          <p:nvPr/>
        </p:nvPicPr>
        <p:blipFill rotWithShape="1">
          <a:blip r:embed="rId6"/>
          <a:srcRect t="5678" r="18180" b="6286"/>
          <a:stretch>
            <a:fillRect/>
          </a:stretch>
        </p:blipFill>
        <p:spPr>
          <a:xfrm>
            <a:off x="7499350" y="4640580"/>
            <a:ext cx="2606040" cy="13354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929640" y="5581650"/>
            <a:ext cx="4455795" cy="5930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marL="332105" lvl="1" indent="0">
              <a:lnSpc>
                <a:spcPct val="100000"/>
              </a:lnSpc>
              <a:buNone/>
            </a:pPr>
            <a:r>
              <a:rPr lang="en-US" altLang="en-US" sz="1400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High TF + High IDF = Very Important Word</a:t>
            </a:r>
            <a:endParaRPr lang="en-US" altLang="en-US" sz="1400" b="1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332105" lvl="1" indent="0">
              <a:lnSpc>
                <a:spcPct val="100000"/>
              </a:lnSpc>
              <a:buNone/>
            </a:pPr>
            <a:r>
              <a:rPr lang="en-US" altLang="en-US" sz="1400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High TF + Low IDF = Common word (not useful)</a:t>
            </a:r>
            <a:endParaRPr lang="en-US" altLang="en-US" sz="1400" b="1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4" grpId="0" animBg="1"/>
      <p:bldP spid="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0390" y="219710"/>
            <a:ext cx="11005820" cy="720090"/>
          </a:xfrm>
        </p:spPr>
        <p:txBody>
          <a:bodyPr/>
          <a:p>
            <a:r>
              <a:rPr lang="en-US">
                <a:latin typeface="Sitka Display" panose="02000505000000020004" charset="0"/>
                <a:cs typeface="Sitka Display" panose="02000505000000020004" charset="0"/>
              </a:rPr>
              <a:t>Results Obtained till now</a:t>
            </a:r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9755" y="972185"/>
            <a:ext cx="5286375" cy="520319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[Step-1] Initial Data Structuring &amp; Classification Setup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4/1/2026</a:t>
            </a:r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 smtClean="0">
              <a:latin typeface="Sitka Display" panose="02000505000000020004" charset="0"/>
              <a:cs typeface="Sitka Display" panose="02000505000000020004" charset="0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579755" y="1370330"/>
          <a:ext cx="5057140" cy="4960620"/>
        </p:xfrm>
        <a:graphic>
          <a:graphicData uri="http://schemas.openxmlformats.org/drawingml/2006/table">
            <a:tbl>
              <a:tblPr/>
              <a:tblGrid>
                <a:gridCol w="1308735"/>
                <a:gridCol w="874395"/>
                <a:gridCol w="1380490"/>
                <a:gridCol w="1493520"/>
              </a:tblGrid>
              <a:tr h="32575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NLP Output Label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Codes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Description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Next Concerned Department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2385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TESTED_OK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—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No further action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None / Case Closure System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2765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INSTALLATION_</a:t>
                      </a:r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REPLACEMENT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D255, D490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replacement required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Replacement / Installation Team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CEG_ANALYSIS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D168, D320, D460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Seal missing / suspected / technical analysis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CEG / Enforcement / Vigilance Team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ZONE_</a:t>
                      </a:r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RECTIFICATION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D395, D510, D330, D400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Voltage / network issue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Network / Zone Maintenance Team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5725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SITE_NOT_READY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D030, D315, D430, D440, D500, D271, D606, D603, D275, D601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Locked / no access / unsafe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Field Operations / Meter Testing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ADMIN_CLOSURE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D120, D385, D610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Wrong notification / work already done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Back-Office / Administrative Operations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CUSTOMER_</a:t>
                      </a:r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DEPENDENT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D560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Consumer not available / refused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Customer Service / Call Center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ctr" fontAlgn="ctr"/>
                      <a:r>
                        <a:rPr lang="en-US"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sz="1200" b="1">
                          <a:solidFill>
                            <a:srgbClr val="0070C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VISIT_REQUIRED</a:t>
                      </a:r>
                      <a:endParaRPr sz="1200" b="1">
                        <a:solidFill>
                          <a:srgbClr val="0070C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D270, D360, D570, D580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Visit not done / reschedule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B05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Scheduling / Field Dispatch Team</a:t>
                      </a:r>
                      <a:endParaRPr sz="1200" b="1" i="0">
                        <a:solidFill>
                          <a:srgbClr val="00B05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865495" y="971550"/>
            <a:ext cx="5791835" cy="5203825"/>
          </a:xfrm>
          <a:prstGeom prst="rect">
            <a:avLst/>
          </a:prstGeom>
        </p:spPr>
        <p:txBody>
          <a:bodyPr vert="horz" wrap="square" lIns="0" tIns="0" rIns="0" bIns="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  <a:sym typeface="+mn-ea"/>
              </a:rPr>
              <a:t>[Step-2] Text Preprocessing &amp; Cleaning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</p:txBody>
      </p:sp>
      <p:graphicFrame>
        <p:nvGraphicFramePr>
          <p:cNvPr id="9" name="Table 8"/>
          <p:cNvGraphicFramePr/>
          <p:nvPr>
            <p:custDataLst>
              <p:tags r:id="rId5"/>
            </p:custDataLst>
          </p:nvPr>
        </p:nvGraphicFramePr>
        <p:xfrm>
          <a:off x="5866130" y="1370965"/>
          <a:ext cx="5719445" cy="4986020"/>
        </p:xfrm>
        <a:graphic>
          <a:graphicData uri="http://schemas.openxmlformats.org/drawingml/2006/table">
            <a:tbl>
              <a:tblPr/>
              <a:tblGrid>
                <a:gridCol w="416560"/>
                <a:gridCol w="2171065"/>
                <a:gridCol w="2188210"/>
                <a:gridCol w="943610"/>
              </a:tblGrid>
              <a:tr h="387350">
                <a:tc>
                  <a:txBody>
                    <a:bodyPr/>
                    <a:p>
                      <a:pPr algn="l" fontAlgn="t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SR_NO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TEXT_REMARKS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ACTION_CATEGORY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10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HOLD_CANCEL_REASON</a:t>
                      </a:r>
                      <a:endParaRPr sz="10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710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already replaced New meter No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</a:t>
                      </a:r>
                      <a:r>
                        <a:rPr lang="en-US"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-7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9039984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already replaced New meter No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D270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84580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1860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display showing temper and MDI 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347.98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kw suspected referred to enforcement and discuss with consumer sh Hament on phone no 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9873511623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display showing temper and MDI kw suspected referred to enforcement and discuss with consumer sh Hament on phone no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D320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501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2036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already removed at site date on 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5/11/25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consumer name is Suresh mobile number is 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9891816286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already removed at site date on consumer name is Suresh mobile number is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D360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546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2582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3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time visit but no person at site no response on call </a:t>
                      </a:r>
                      <a:r>
                        <a:rPr lang="en-US"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-9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811304502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time visit but no person at site no response on call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D385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832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3375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2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time visit but premises found locked no response on call </a:t>
                      </a:r>
                      <a:r>
                        <a:rPr lang="en-US"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-9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899460445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time visit but premises found locked no response on call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D430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6428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8421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EL LED found Glowing even on External Load 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(2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 KW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)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, hence meter is defective and therefore same needs to be replaced under defective category Contacted Person- Jagbir Singh </a:t>
                      </a:r>
                      <a:r>
                        <a:rPr sz="1200" b="1" i="0">
                          <a:solidFill>
                            <a:srgbClr val="FF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(9891593144)</a:t>
                      </a:r>
                      <a:endParaRPr sz="1200" b="1" i="0">
                        <a:solidFill>
                          <a:srgbClr val="FF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EL LED found Glowing even on External Load KW hence meter is defective and therefore same needs to be replaced under defective category Contacted Person Jagbir Singh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D490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latin typeface="Sitka Display" panose="02000505000000020004" charset="0"/>
                <a:cs typeface="Sitka Display" panose="02000505000000020004" charset="0"/>
              </a:rPr>
              <a:t>Results Obtained</a:t>
            </a:r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40790"/>
            <a:ext cx="4429125" cy="5030470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1600" b="1" u="sng">
                <a:latin typeface="Sitka Display" panose="02000505000000020004" charset="0"/>
                <a:cs typeface="Sitka Display" panose="02000505000000020004" charset="0"/>
              </a:rPr>
              <a:t>[Step-3] TF-IDF Feature Engineering</a:t>
            </a:r>
            <a:endParaRPr lang="en-US" altLang="en-US" sz="1600" b="1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600" b="1">
                <a:latin typeface="Sitka Display" panose="02000505000000020004" charset="0"/>
                <a:cs typeface="Sitka Display" panose="02000505000000020004" charset="0"/>
              </a:rPr>
              <a:t>K</a:t>
            </a:r>
            <a:r>
              <a:rPr lang="en-US" altLang="en-US" sz="16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ey Insights:</a:t>
            </a:r>
            <a:endParaRPr lang="en-US" altLang="en-US" sz="16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Generated </a:t>
            </a:r>
            <a:r>
              <a:rPr lang="en-US" altLang="en-US" sz="12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1048 unique textual features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using TF-IDF vectorization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Each word assigned a numerical importance score based on its relevance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Successfully transformed unstructured text into meaningful numerical representation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6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Feature Importance Analysis (Graph Insight):</a:t>
            </a:r>
            <a:endParaRPr lang="en-US" altLang="en-US" sz="16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The graph shows </a:t>
            </a:r>
            <a:r>
              <a:rPr lang="en-US" altLang="en-US" sz="12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Top TF-IDF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 weighted words influencing classification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Words like: </a:t>
            </a:r>
            <a:r>
              <a:rPr lang="en-US" altLang="en-US" sz="12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“test”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, </a:t>
            </a:r>
            <a:r>
              <a:rPr lang="en-US" altLang="en-US" sz="12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“meter”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, </a:t>
            </a:r>
            <a:r>
              <a:rPr lang="en-US" altLang="en-US" sz="12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“safety”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 have highest importance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These words indicate core domain relevance in meter testing remarks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en-US" altLang="en-US" sz="16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Observations:</a:t>
            </a:r>
            <a:endParaRPr lang="en-US" altLang="en-US" sz="16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High 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TF-IDF score words are frequent yet contextually important. 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Domain-specific keywords are clearly identified.</a:t>
            </a:r>
            <a:endParaRPr lang="en-US" altLang="en-US" sz="12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Model can use these features to differentiate between </a:t>
            </a:r>
            <a:r>
              <a:rPr lang="en-US" altLang="en-US" sz="1200" b="1" i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departments/actions</a:t>
            </a:r>
            <a:r>
              <a:rPr lang="en-US" altLang="en-US" sz="12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.</a:t>
            </a:r>
            <a:endParaRPr lang="en-US" altLang="en-US" sz="12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endParaRPr lang="en-US" altLang="en-US" sz="1600" b="1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endParaRPr lang="en-US" altLang="en-US" sz="1600" b="1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endParaRPr lang="en-US" altLang="en-US" sz="1600" b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4/1/2026</a:t>
            </a:r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 smtClean="0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93130" y="1079500"/>
            <a:ext cx="5664200" cy="5095875"/>
          </a:xfrm>
          <a:prstGeom prst="rect">
            <a:avLst/>
          </a:prstGeom>
        </p:spPr>
        <p:txBody>
          <a:bodyPr vert="horz" wrap="square" lIns="0" tIns="0" rIns="0" bIns="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</p:txBody>
      </p:sp>
      <p:pic>
        <p:nvPicPr>
          <p:cNvPr id="4" name="Picture 3" descr="TF-IDF Diagram"/>
          <p:cNvPicPr>
            <a:picLocks noChangeAspect="1"/>
          </p:cNvPicPr>
          <p:nvPr/>
        </p:nvPicPr>
        <p:blipFill>
          <a:blip r:embed="rId5"/>
          <a:srcRect l="1819" t="1201" r="1531" b="3062"/>
          <a:stretch>
            <a:fillRect/>
          </a:stretch>
        </p:blipFill>
        <p:spPr>
          <a:xfrm>
            <a:off x="5124450" y="1169035"/>
            <a:ext cx="6958965" cy="51708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pPr algn="ctr"/>
            <a:r>
              <a:rPr lang="en-US" altLang="en-US" sz="4400">
                <a:latin typeface="Sitka Display" panose="02000505000000020004" charset="0"/>
                <a:cs typeface="Sitka Display" panose="02000505000000020004" charset="0"/>
              </a:rPr>
              <a:t>Cancellation_Hold Reason Code</a:t>
            </a:r>
            <a:endParaRPr lang="en-US" altLang="en-US" sz="4400">
              <a:latin typeface="Sitka Display" panose="02000505000000020004" charset="0"/>
              <a:cs typeface="Sitka Display" panose="020005050000000200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48017" y="1424940"/>
          <a:ext cx="3253105" cy="2025650"/>
        </p:xfrm>
        <a:graphic>
          <a:graphicData uri="http://schemas.openxmlformats.org/drawingml/2006/table">
            <a:tbl>
              <a:tblPr/>
              <a:tblGrid>
                <a:gridCol w="864870"/>
                <a:gridCol w="2388235"/>
              </a:tblGrid>
              <a:tr h="184150"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Access / Availability Issues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D030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not traceable / wrong address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D120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Consumer not available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D315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Wrong pole number / wrong address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D385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person at site / no phone response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D430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Premises Locked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D440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Premises Sealed 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D500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Site under construction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D560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Visit not done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D610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Consumer refused testing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4037012" y="1424940"/>
          <a:ext cx="3253105" cy="1289050"/>
        </p:xfrm>
        <a:graphic>
          <a:graphicData uri="http://schemas.openxmlformats.org/drawingml/2006/table">
            <a:tbl>
              <a:tblPr/>
              <a:tblGrid>
                <a:gridCol w="864870"/>
                <a:gridCol w="2388235"/>
              </a:tblGrid>
              <a:tr h="184150"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/ Site Condition Issues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D271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Unsafe site condition (damaged insulation, unsafe wiring)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D606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Water logging at site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D603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Space constraint / meter at excessive height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7426007" y="1424940"/>
          <a:ext cx="3253105" cy="1877060"/>
        </p:xfrm>
        <a:graphic>
          <a:graphicData uri="http://schemas.openxmlformats.org/drawingml/2006/table">
            <a:tbl>
              <a:tblPr/>
              <a:tblGrid>
                <a:gridCol w="864870"/>
                <a:gridCol w="2388235"/>
              </a:tblGrid>
              <a:tr h="219710"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/ Seal / Technical Blocking Issues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D168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terminal / box seals broken (suspected case)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D275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box damaged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D320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terminal seal missing → Refer to CEG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D460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terminal &amp; box seals missing → Refer to CEG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D601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Insufficient load for testing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/>
        </p:nvGraphicFramePr>
        <p:xfrm>
          <a:off x="4036377" y="3106420"/>
          <a:ext cx="3253105" cy="1531620"/>
        </p:xfrm>
        <a:graphic>
          <a:graphicData uri="http://schemas.openxmlformats.org/drawingml/2006/table">
            <a:tbl>
              <a:tblPr/>
              <a:tblGrid>
                <a:gridCol w="864870"/>
                <a:gridCol w="2388235"/>
              </a:tblGrid>
              <a:tr h="184150"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/ Network Issues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D395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Low voltage → Refer to Zone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D510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Solar / phase voltage issue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D330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Neutral not present from Supply End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D400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Solar Panel not working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639762" y="4645025"/>
          <a:ext cx="3253105" cy="736600"/>
        </p:xfrm>
        <a:graphic>
          <a:graphicData uri="http://schemas.openxmlformats.org/drawingml/2006/table">
            <a:tbl>
              <a:tblPr/>
              <a:tblGrid>
                <a:gridCol w="864870"/>
                <a:gridCol w="2388235"/>
              </a:tblGrid>
              <a:tr h="184150"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Replacement / Defective Meter Cases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D255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Mechanical/Class-2 meter → Replace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D490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Display defect / RTC fail → Replace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7426007" y="3729355"/>
          <a:ext cx="3253105" cy="1289050"/>
        </p:xfrm>
        <a:graphic>
          <a:graphicData uri="http://schemas.openxmlformats.org/drawingml/2006/table">
            <a:tbl>
              <a:tblPr/>
              <a:tblGrid>
                <a:gridCol w="864870"/>
                <a:gridCol w="2388235"/>
              </a:tblGrid>
              <a:tr h="184150"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Administrative / System Issues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D270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already replaced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D360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Meter retained as per system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D570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Work already done on another service order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D580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Wrong notification generated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6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6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7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73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7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9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80.xml><?xml version="1.0" encoding="utf-8"?>
<p:tagLst xmlns:p="http://schemas.openxmlformats.org/presentationml/2006/main">
  <p:tag name="KSO_WM_SLIDE_TYPE" val="text"/>
  <p:tag name="KSO_WM_BEAUTIFY_FLAG" val="#wm#"/>
  <p:tag name="KSO_WM_SLIDE_THEME_ID" val="3321262"/>
  <p:tag name="KSO_WM_SLIDE_THEME_NAME" val="White Minimalist"/>
</p:tagLst>
</file>

<file path=ppt/tags/tag81.xml><?xml version="1.0" encoding="utf-8"?>
<p:tagLst xmlns:p="http://schemas.openxmlformats.org/presentationml/2006/main">
  <p:tag name="KSO_WM_UNIT_TEXT" val="Table of Contents:"/>
</p:tagLst>
</file>

<file path=ppt/tags/tag82.xml><?xml version="1.0" encoding="utf-8"?>
<p:tagLst xmlns:p="http://schemas.openxmlformats.org/presentationml/2006/main">
  <p:tag name="KSO_WM_UNIT_SUBTYPE" val="a"/>
  <p:tag name="KSO_WM_TEMPLATE_CATEGORY" val="diagram"/>
  <p:tag name="KSO_WM_TEMPLATE_INDEX" val="19882029"/>
  <p:tag name="KSO_WM_UNIT_ID" val="diagram19882029*l_h_f*1_7_1"/>
  <p:tag name="KSO_WM_DIAGRAM_GROUP_CODE" val="l1-1"/>
  <p:tag name="KSO_WM_TAG_VERSION" val="2.0"/>
  <p:tag name="KSO_WM_DIAGRAM_VIRTUALLY_FRAME" val="{&quot;height&quot;:342.62503937007875,&quot;left&quot;:66,&quot;top&quot;:143.75,&quot;width&quot;:828}"/>
</p:tagLst>
</file>

<file path=ppt/tags/tag8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85.xml><?xml version="1.0" encoding="utf-8"?>
<p:tagLst xmlns:p="http://schemas.openxmlformats.org/presentationml/2006/main">
  <p:tag name="KSO_WM_SLIDE_TYPE" val="contents"/>
  <p:tag name="KSO_WM_BEAUTIFY_FLAG" val="#wm#"/>
</p:tagLst>
</file>

<file path=ppt/tags/tag86.xml><?xml version="1.0" encoding="utf-8"?>
<p:tagLst xmlns:p="http://schemas.openxmlformats.org/presentationml/2006/main">
  <p:tag name="KSO_WM_UNIT_SUBTYPE" val="a"/>
</p:tagLst>
</file>

<file path=ppt/tags/tag8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8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TEXT" val="Visvesvaraya National Institute of Technology, Nagpur&#13;Electronics and Communication Engineering Depart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9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HANKS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82_9*f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ext"/>
</p:tagLst>
</file>

<file path=ppt/tags/tag103.xml><?xml version="1.0" encoding="utf-8"?>
<p:tagLst xmlns:p="http://schemas.openxmlformats.org/presentationml/2006/main">
  <p:tag name="KSO_WM_SPECIAL_SOURCE" val="bdnull"/>
  <p:tag name="KSO_WM_SLIDE_ID" val="custom2023348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SLIDE_THEME_ID" val="3321262"/>
  <p:tag name="KSO_WM_SLIDE_THEME_NAME" val="White Minimalist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8.xml><?xml version="1.0" encoding="utf-8"?>
<p:tagLst xmlns:p="http://schemas.openxmlformats.org/presentationml/2006/main">
  <p:tag name="TABLE_ENDDRAG_ORIGIN_RECT" val="450*392"/>
  <p:tag name="TABLE_ENDDRAG_RECT" val="461*107*450*392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2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10764</Words>
  <Application>WPS Presentation</Application>
  <PresentationFormat>Widescreen</PresentationFormat>
  <Paragraphs>621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Sitka Display</vt:lpstr>
      <vt:lpstr>Sitka Heading</vt:lpstr>
      <vt:lpstr>Wingdings</vt:lpstr>
      <vt:lpstr>Calibri</vt:lpstr>
      <vt:lpstr>Microsoft YaHei</vt:lpstr>
      <vt:lpstr>Arial Unicode MS</vt:lpstr>
      <vt:lpstr>Manrope ExtraBold</vt:lpstr>
      <vt:lpstr>Segoe Print</vt:lpstr>
      <vt:lpstr>Lato</vt:lpstr>
      <vt:lpstr>Calibri Light</vt:lpstr>
      <vt:lpstr>Office Theme</vt:lpstr>
      <vt:lpstr>1_Office Theme</vt:lpstr>
      <vt:lpstr>Electronics and Communication Engineering Department</vt:lpstr>
      <vt:lpstr>Contents </vt:lpstr>
      <vt:lpstr>Problem Statement &amp; Dataset</vt:lpstr>
      <vt:lpstr>Results Obtained till now</vt:lpstr>
      <vt:lpstr>Pending Work To Do</vt:lpstr>
      <vt:lpstr>THANKS</vt:lpstr>
      <vt:lpstr>PowerPoint 演示文稿</vt:lpstr>
      <vt:lpstr>Methodology and Algorithms</vt:lpstr>
      <vt:lpstr>Work Done till now</vt:lpstr>
      <vt:lpstr>Results Obtained till now</vt:lpstr>
      <vt:lpstr>Results Obtained</vt:lpstr>
      <vt:lpstr>Cancellation_Hold Reason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Shubham Saxena</cp:lastModifiedBy>
  <cp:revision>66</cp:revision>
  <dcterms:created xsi:type="dcterms:W3CDTF">2025-05-09T09:30:00Z</dcterms:created>
  <dcterms:modified xsi:type="dcterms:W3CDTF">2026-05-07T04:07:29Z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42AF8397AED2481DA9E0FA17E77E6207_13</vt:lpwstr>
  </property>
  <property fmtid="{D5CDD505-2E9C-101B-9397-08002B2CF9AE}" pid="3" name="KSOProductBuildVer">
    <vt:lpwstr>1033-12.1.0.25242</vt:lpwstr>
  </property>
</Properties>
</file>